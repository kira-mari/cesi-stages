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5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2EB"/>
    <a:srgbClr val="9284D6"/>
    <a:srgbClr val="844DF4"/>
    <a:srgbClr val="4446A5"/>
    <a:srgbClr val="B0A2F4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EDEA48-F453-4F2C-9A36-3FC6B8F7C2E0}" v="1129" vWet="1132" dt="2026-04-03T12:58:17.394"/>
    <p1510:client id="{9F34E896-9168-6D30-F44A-150942D9A53D}" v="31" dt="2026-03-31T12:12:04.820"/>
    <p1510:client id="{AB78117C-6282-4892-9D0A-301E396F58A4}" v="1196" dt="2026-04-01T11:32:47.773"/>
    <p1510:client id="{E6981E57-77CB-4CFE-AC8D-6C6B5A7F6CB2}" v="5" dt="2026-04-03T13:00:15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7E601E9-9999-9F30-D82A-153F0852E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5EB1EC6-4C4C-AF65-295A-D97C5C2E20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FEDBA-5445-4DAE-B3C2-EA848E79BFA5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B08E47-024A-8EF7-15CA-8237B2FF49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BD5D835-5C6F-FF23-6E94-D72357CCB6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01DDC-1C75-425F-9A91-2EF29EF5C0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7765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75EE3-2AED-41F7-A984-6D9D7C9C0681}" type="datetimeFigureOut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FC11E-57E1-46FA-BB19-DB3A7226CE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993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4458-0C5A-40BB-A6A2-77F2B337618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3621-853B-4374-99A6-EBC005B78F51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B3B8-00CA-473C-BDA5-F0CACCF99DC6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6F875-AF71-4FAF-864D-DACF30F98FF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25D1A-EE3A-415F-AD81-E7C6702D79AF}" type="datetime1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0865-7F3E-40B5-9240-3B4A1D12A558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855DC-6D7E-444D-B300-CF82360A929C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8158-FA7E-47AA-A66D-47746C14F0A9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93E3B-C5C8-407A-9E80-3B650FDD82E7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C4E5F-921F-400A-9EB5-CC3A27828E00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6F0E-B2F6-4951-B904-954708CB334A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27A89-A69F-49AC-AD2A-FBBF78C1B0E2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8115358" y="1005201"/>
            <a:ext cx="850392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5400" b="1">
                <a:solidFill>
                  <a:srgbClr val="6366F1"/>
                </a:solidFill>
                <a:latin typeface="Segoe UI"/>
              </a:defRPr>
            </a:pPr>
            <a:r>
              <a:rPr lang="fr-FR" sz="7200" b="1" cap="all">
                <a:solidFill>
                  <a:srgbClr val="844DF4"/>
                </a:solidFill>
              </a:rPr>
              <a:t>Projet Web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263959" y="4561885"/>
            <a:ext cx="66660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>
                    <a:lumMod val="95000"/>
                  </a:schemeClr>
                </a:solidFill>
              </a:rPr>
              <a:t>Plateforme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 web de gestion de stages — Recherche </a:t>
            </a:r>
            <a:r>
              <a:rPr err="1">
                <a:solidFill>
                  <a:schemeClr val="bg1">
                    <a:lumMod val="95000"/>
                  </a:schemeClr>
                </a:solidFill>
              </a:rPr>
              <a:t>d'offres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>
                <a:solidFill>
                  <a:schemeClr val="bg1">
                    <a:lumMod val="95000"/>
                  </a:schemeClr>
                </a:solidFill>
              </a:rPr>
            </a:br>
            <a:r>
              <a:rPr>
                <a:solidFill>
                  <a:schemeClr val="bg1">
                    <a:lumMod val="95000"/>
                  </a:schemeClr>
                </a:solidFill>
              </a:rPr>
              <a:t>candidatures, </a:t>
            </a:r>
            <a:r>
              <a:rPr err="1">
                <a:solidFill>
                  <a:schemeClr val="bg1">
                    <a:lumMod val="95000"/>
                  </a:schemeClr>
                </a:solidFill>
              </a:rPr>
              <a:t>suivi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 et administration pour le CESI.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A68C9501-BA00-147D-AD03-12B0C0C66BC8}"/>
              </a:ext>
            </a:extLst>
          </p:cNvPr>
          <p:cNvSpPr txBox="1"/>
          <p:nvPr/>
        </p:nvSpPr>
        <p:spPr>
          <a:xfrm>
            <a:off x="-7926494" y="5804965"/>
            <a:ext cx="2239888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Saleh	 HOSSEINE</a:t>
            </a:r>
          </a:p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Mohamed EL MORABITI</a:t>
            </a:r>
          </a:p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Ahmed GHEMARI</a:t>
            </a:r>
            <a:endParaRPr sz="1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F6A15F52-B845-320A-A4E2-A1E714DA95D1}"/>
              </a:ext>
            </a:extLst>
          </p:cNvPr>
          <p:cNvSpPr txBox="1"/>
          <p:nvPr/>
        </p:nvSpPr>
        <p:spPr>
          <a:xfrm>
            <a:off x="15994136" y="6526284"/>
            <a:ext cx="1768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01/04/2026</a:t>
            </a:r>
            <a:endParaRPr sz="140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95" name="Google Shape;209;p31">
            <a:extLst>
              <a:ext uri="{FF2B5EF4-FFF2-40B4-BE49-F238E27FC236}">
                <a16:creationId xmlns:a16="http://schemas.microsoft.com/office/drawing/2014/main" id="{E6269363-E4CE-5EA6-C6A8-FC43A252A796}"/>
              </a:ext>
            </a:extLst>
          </p:cNvPr>
          <p:cNvGrpSpPr/>
          <p:nvPr/>
        </p:nvGrpSpPr>
        <p:grpSpPr>
          <a:xfrm>
            <a:off x="13176039" y="577142"/>
            <a:ext cx="4429218" cy="5597155"/>
            <a:chOff x="5216629" y="1454784"/>
            <a:chExt cx="3261589" cy="3948432"/>
          </a:xfrm>
        </p:grpSpPr>
        <p:sp>
          <p:nvSpPr>
            <p:cNvPr id="96" name="Google Shape;210;p31">
              <a:extLst>
                <a:ext uri="{FF2B5EF4-FFF2-40B4-BE49-F238E27FC236}">
                  <a16:creationId xmlns:a16="http://schemas.microsoft.com/office/drawing/2014/main" id="{9BE2917E-DB1E-A07F-5A3F-26F187144FB7}"/>
                </a:ext>
              </a:extLst>
            </p:cNvPr>
            <p:cNvSpPr/>
            <p:nvPr/>
          </p:nvSpPr>
          <p:spPr>
            <a:xfrm>
              <a:off x="5665463" y="1455858"/>
              <a:ext cx="2222345" cy="3947358"/>
            </a:xfrm>
            <a:custGeom>
              <a:avLst/>
              <a:gdLst/>
              <a:ahLst/>
              <a:cxnLst/>
              <a:rect l="l" t="t" r="r" b="b"/>
              <a:pathLst>
                <a:path w="62068" h="110246" extrusionOk="0">
                  <a:moveTo>
                    <a:pt x="53430" y="1"/>
                  </a:moveTo>
                  <a:cubicBezTo>
                    <a:pt x="53412" y="1"/>
                    <a:pt x="53393" y="1"/>
                    <a:pt x="53375" y="1"/>
                  </a:cubicBezTo>
                  <a:lnTo>
                    <a:pt x="8693" y="62"/>
                  </a:lnTo>
                  <a:cubicBezTo>
                    <a:pt x="3921" y="62"/>
                    <a:pt x="0" y="3983"/>
                    <a:pt x="0" y="8755"/>
                  </a:cubicBezTo>
                  <a:lnTo>
                    <a:pt x="152" y="101735"/>
                  </a:lnTo>
                  <a:cubicBezTo>
                    <a:pt x="152" y="106416"/>
                    <a:pt x="4043" y="110246"/>
                    <a:pt x="8784" y="110246"/>
                  </a:cubicBezTo>
                  <a:lnTo>
                    <a:pt x="52949" y="110185"/>
                  </a:lnTo>
                  <a:cubicBezTo>
                    <a:pt x="57691" y="110185"/>
                    <a:pt x="61582" y="106324"/>
                    <a:pt x="61612" y="101644"/>
                  </a:cubicBezTo>
                  <a:lnTo>
                    <a:pt x="62038" y="8663"/>
                  </a:lnTo>
                  <a:cubicBezTo>
                    <a:pt x="62068" y="3910"/>
                    <a:pt x="58177" y="1"/>
                    <a:pt x="5343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11;p31">
              <a:extLst>
                <a:ext uri="{FF2B5EF4-FFF2-40B4-BE49-F238E27FC236}">
                  <a16:creationId xmlns:a16="http://schemas.microsoft.com/office/drawing/2014/main" id="{3E87FAA5-6DF7-D854-11E6-06EBEF6DD80D}"/>
                </a:ext>
              </a:extLst>
            </p:cNvPr>
            <p:cNvSpPr/>
            <p:nvPr/>
          </p:nvSpPr>
          <p:spPr>
            <a:xfrm>
              <a:off x="5665463" y="1455858"/>
              <a:ext cx="2222345" cy="3947358"/>
            </a:xfrm>
            <a:custGeom>
              <a:avLst/>
              <a:gdLst/>
              <a:ahLst/>
              <a:cxnLst/>
              <a:rect l="l" t="t" r="r" b="b"/>
              <a:pathLst>
                <a:path w="62068" h="110246" extrusionOk="0">
                  <a:moveTo>
                    <a:pt x="53430" y="1"/>
                  </a:moveTo>
                  <a:cubicBezTo>
                    <a:pt x="53412" y="1"/>
                    <a:pt x="53393" y="1"/>
                    <a:pt x="53375" y="1"/>
                  </a:cubicBezTo>
                  <a:lnTo>
                    <a:pt x="8693" y="62"/>
                  </a:lnTo>
                  <a:cubicBezTo>
                    <a:pt x="3921" y="62"/>
                    <a:pt x="0" y="3983"/>
                    <a:pt x="0" y="8755"/>
                  </a:cubicBezTo>
                  <a:lnTo>
                    <a:pt x="152" y="101735"/>
                  </a:lnTo>
                  <a:cubicBezTo>
                    <a:pt x="152" y="106416"/>
                    <a:pt x="4043" y="110246"/>
                    <a:pt x="8784" y="110246"/>
                  </a:cubicBezTo>
                  <a:lnTo>
                    <a:pt x="52949" y="110185"/>
                  </a:lnTo>
                  <a:cubicBezTo>
                    <a:pt x="57691" y="110185"/>
                    <a:pt x="61582" y="106324"/>
                    <a:pt x="61612" y="101644"/>
                  </a:cubicBezTo>
                  <a:lnTo>
                    <a:pt x="62038" y="8663"/>
                  </a:lnTo>
                  <a:cubicBezTo>
                    <a:pt x="62068" y="3910"/>
                    <a:pt x="58177" y="1"/>
                    <a:pt x="53430" y="1"/>
                  </a:cubicBezTo>
                  <a:close/>
                </a:path>
              </a:pathLst>
            </a:custGeom>
            <a:solidFill>
              <a:srgbClr val="B0A2F4">
                <a:alpha val="50196"/>
              </a:srgbClr>
            </a:solidFill>
            <a:ln>
              <a:solidFill>
                <a:schemeClr val="bg1"/>
              </a:solidFill>
            </a:ln>
            <a:effectLst>
              <a:outerShdw blurRad="85725" dist="95250" dir="2820000" algn="bl" rotWithShape="0">
                <a:srgbClr val="CCCCCC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200">
                  <a:solidFill>
                    <a:srgbClr val="9284D6"/>
                  </a:solidFill>
                  <a:latin typeface="Arial Black" panose="020B0A040201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</a:t>
              </a:r>
              <a:endParaRPr sz="7200">
                <a:solidFill>
                  <a:srgbClr val="9284D6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8" name="Google Shape;212;p31">
              <a:extLst>
                <a:ext uri="{FF2B5EF4-FFF2-40B4-BE49-F238E27FC236}">
                  <a16:creationId xmlns:a16="http://schemas.microsoft.com/office/drawing/2014/main" id="{417B57DB-C5A7-88A8-5B37-08462D900FF3}"/>
                </a:ext>
              </a:extLst>
            </p:cNvPr>
            <p:cNvSpPr/>
            <p:nvPr/>
          </p:nvSpPr>
          <p:spPr>
            <a:xfrm>
              <a:off x="5665463" y="1454784"/>
              <a:ext cx="2222381" cy="3948432"/>
            </a:xfrm>
            <a:custGeom>
              <a:avLst/>
              <a:gdLst/>
              <a:ahLst/>
              <a:cxnLst/>
              <a:rect l="l" t="t" r="r" b="b"/>
              <a:pathLst>
                <a:path w="62069" h="110276" fill="none" extrusionOk="0">
                  <a:moveTo>
                    <a:pt x="52949" y="110215"/>
                  </a:moveTo>
                  <a:lnTo>
                    <a:pt x="8784" y="110276"/>
                  </a:lnTo>
                  <a:cubicBezTo>
                    <a:pt x="4043" y="110276"/>
                    <a:pt x="152" y="106446"/>
                    <a:pt x="152" y="101765"/>
                  </a:cubicBezTo>
                  <a:lnTo>
                    <a:pt x="0" y="8785"/>
                  </a:lnTo>
                  <a:cubicBezTo>
                    <a:pt x="0" y="4013"/>
                    <a:pt x="3921" y="92"/>
                    <a:pt x="8693" y="92"/>
                  </a:cubicBezTo>
                  <a:lnTo>
                    <a:pt x="53375" y="31"/>
                  </a:lnTo>
                  <a:cubicBezTo>
                    <a:pt x="58147" y="0"/>
                    <a:pt x="62068" y="3921"/>
                    <a:pt x="62038" y="8693"/>
                  </a:cubicBezTo>
                  <a:lnTo>
                    <a:pt x="61612" y="101674"/>
                  </a:lnTo>
                  <a:cubicBezTo>
                    <a:pt x="61582" y="106354"/>
                    <a:pt x="57691" y="110215"/>
                    <a:pt x="52949" y="110215"/>
                  </a:cubicBezTo>
                  <a:close/>
                </a:path>
              </a:pathLst>
            </a:custGeom>
            <a:noFill/>
            <a:ln w="2275" cap="flat" cmpd="sng">
              <a:solidFill>
                <a:srgbClr val="FFFFFF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15;p31">
              <a:extLst>
                <a:ext uri="{FF2B5EF4-FFF2-40B4-BE49-F238E27FC236}">
                  <a16:creationId xmlns:a16="http://schemas.microsoft.com/office/drawing/2014/main" id="{5B728631-D4F3-3D83-22E0-A651CF1399A3}"/>
                </a:ext>
              </a:extLst>
            </p:cNvPr>
            <p:cNvSpPr/>
            <p:nvPr/>
          </p:nvSpPr>
          <p:spPr>
            <a:xfrm>
              <a:off x="5765575" y="1550563"/>
              <a:ext cx="2022123" cy="3743807"/>
            </a:xfrm>
            <a:custGeom>
              <a:avLst/>
              <a:gdLst/>
              <a:ahLst/>
              <a:cxnLst/>
              <a:rect l="l" t="t" r="r" b="b"/>
              <a:pathLst>
                <a:path w="56476" h="104561" fill="none" extrusionOk="0">
                  <a:moveTo>
                    <a:pt x="48178" y="104500"/>
                  </a:moveTo>
                  <a:lnTo>
                    <a:pt x="7964" y="104561"/>
                  </a:lnTo>
                  <a:cubicBezTo>
                    <a:pt x="3678" y="104561"/>
                    <a:pt x="122" y="101065"/>
                    <a:pt x="122" y="96810"/>
                  </a:cubicBezTo>
                  <a:lnTo>
                    <a:pt x="0" y="7994"/>
                  </a:lnTo>
                  <a:cubicBezTo>
                    <a:pt x="0" y="3648"/>
                    <a:pt x="3557" y="91"/>
                    <a:pt x="7903" y="61"/>
                  </a:cubicBezTo>
                  <a:lnTo>
                    <a:pt x="48573" y="0"/>
                  </a:lnTo>
                  <a:cubicBezTo>
                    <a:pt x="52919" y="0"/>
                    <a:pt x="56476" y="3556"/>
                    <a:pt x="56476" y="7933"/>
                  </a:cubicBezTo>
                  <a:lnTo>
                    <a:pt x="56050" y="96719"/>
                  </a:lnTo>
                  <a:cubicBezTo>
                    <a:pt x="56050" y="101005"/>
                    <a:pt x="52494" y="104500"/>
                    <a:pt x="48178" y="10450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24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18;p31">
              <a:extLst>
                <a:ext uri="{FF2B5EF4-FFF2-40B4-BE49-F238E27FC236}">
                  <a16:creationId xmlns:a16="http://schemas.microsoft.com/office/drawing/2014/main" id="{52C63747-D95F-FA7A-4942-CBD46DA0C7F9}"/>
                </a:ext>
              </a:extLst>
            </p:cNvPr>
            <p:cNvSpPr/>
            <p:nvPr/>
          </p:nvSpPr>
          <p:spPr>
            <a:xfrm>
              <a:off x="5985420" y="1811764"/>
              <a:ext cx="118658" cy="111031"/>
            </a:xfrm>
            <a:custGeom>
              <a:avLst/>
              <a:gdLst/>
              <a:ahLst/>
              <a:cxnLst/>
              <a:rect l="l" t="t" r="r" b="b"/>
              <a:pathLst>
                <a:path w="3314" h="3101" fill="none" extrusionOk="0">
                  <a:moveTo>
                    <a:pt x="2371" y="0"/>
                  </a:moveTo>
                  <a:cubicBezTo>
                    <a:pt x="2918" y="274"/>
                    <a:pt x="3314" y="882"/>
                    <a:pt x="3253" y="1550"/>
                  </a:cubicBezTo>
                  <a:cubicBezTo>
                    <a:pt x="3222" y="2432"/>
                    <a:pt x="2462" y="3100"/>
                    <a:pt x="1581" y="3040"/>
                  </a:cubicBezTo>
                  <a:cubicBezTo>
                    <a:pt x="699" y="3009"/>
                    <a:pt x="0" y="2249"/>
                    <a:pt x="61" y="1368"/>
                  </a:cubicBezTo>
                  <a:cubicBezTo>
                    <a:pt x="92" y="790"/>
                    <a:pt x="426" y="274"/>
                    <a:pt x="912" y="3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19;p31">
              <a:extLst>
                <a:ext uri="{FF2B5EF4-FFF2-40B4-BE49-F238E27FC236}">
                  <a16:creationId xmlns:a16="http://schemas.microsoft.com/office/drawing/2014/main" id="{56BFA6EB-DAA8-242E-D383-590D1CA137AC}"/>
                </a:ext>
              </a:extLst>
            </p:cNvPr>
            <p:cNvSpPr/>
            <p:nvPr/>
          </p:nvSpPr>
          <p:spPr>
            <a:xfrm>
              <a:off x="6044177" y="1776925"/>
              <a:ext cx="36" cy="71861"/>
            </a:xfrm>
            <a:custGeom>
              <a:avLst/>
              <a:gdLst/>
              <a:ahLst/>
              <a:cxnLst/>
              <a:rect l="l" t="t" r="r" b="b"/>
              <a:pathLst>
                <a:path w="1" h="2007" fill="none" extrusionOk="0">
                  <a:moveTo>
                    <a:pt x="1" y="2007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20;p31">
              <a:extLst>
                <a:ext uri="{FF2B5EF4-FFF2-40B4-BE49-F238E27FC236}">
                  <a16:creationId xmlns:a16="http://schemas.microsoft.com/office/drawing/2014/main" id="{42410759-A735-53B4-35CB-AFDC2C0FAB62}"/>
                </a:ext>
              </a:extLst>
            </p:cNvPr>
            <p:cNvSpPr/>
            <p:nvPr/>
          </p:nvSpPr>
          <p:spPr>
            <a:xfrm>
              <a:off x="7604918" y="1878384"/>
              <a:ext cx="873300" cy="873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B24EBE"/>
                </a:gs>
                <a:gs pos="89000">
                  <a:srgbClr val="01539D"/>
                </a:gs>
                <a:gs pos="100000">
                  <a:srgbClr val="5C3DA4"/>
                </a:gs>
              </a:gsLst>
              <a:lin ang="8100019" scaled="0"/>
            </a:gra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21;p31">
              <a:extLst>
                <a:ext uri="{FF2B5EF4-FFF2-40B4-BE49-F238E27FC236}">
                  <a16:creationId xmlns:a16="http://schemas.microsoft.com/office/drawing/2014/main" id="{F119373E-F9E5-B852-D27B-8EBA612DA494}"/>
                </a:ext>
              </a:extLst>
            </p:cNvPr>
            <p:cNvSpPr/>
            <p:nvPr/>
          </p:nvSpPr>
          <p:spPr>
            <a:xfrm>
              <a:off x="5216629" y="4186232"/>
              <a:ext cx="873300" cy="873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B24EBE"/>
                </a:gs>
                <a:gs pos="89000">
                  <a:srgbClr val="01539D"/>
                </a:gs>
                <a:gs pos="100000">
                  <a:srgbClr val="5C3DA4"/>
                </a:gs>
              </a:gsLst>
              <a:lin ang="8100019" scaled="0"/>
            </a:gra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" name="Google Shape;222;p31">
              <a:extLst>
                <a:ext uri="{FF2B5EF4-FFF2-40B4-BE49-F238E27FC236}">
                  <a16:creationId xmlns:a16="http://schemas.microsoft.com/office/drawing/2014/main" id="{02984E28-3AA7-EDE8-6B46-18039243C61E}"/>
                </a:ext>
              </a:extLst>
            </p:cNvPr>
            <p:cNvGrpSpPr/>
            <p:nvPr/>
          </p:nvGrpSpPr>
          <p:grpSpPr>
            <a:xfrm>
              <a:off x="7769840" y="2041871"/>
              <a:ext cx="543444" cy="546308"/>
              <a:chOff x="6069423" y="2891892"/>
              <a:chExt cx="362320" cy="364230"/>
            </a:xfrm>
          </p:grpSpPr>
          <p:sp>
            <p:nvSpPr>
              <p:cNvPr id="116" name="Google Shape;223;p31">
                <a:extLst>
                  <a:ext uri="{FF2B5EF4-FFF2-40B4-BE49-F238E27FC236}">
                    <a16:creationId xmlns:a16="http://schemas.microsoft.com/office/drawing/2014/main" id="{F07068A4-7645-7ED0-8C33-0A31590D5D2F}"/>
                  </a:ext>
                </a:extLst>
              </p:cNvPr>
              <p:cNvSpPr/>
              <p:nvPr/>
            </p:nvSpPr>
            <p:spPr>
              <a:xfrm>
                <a:off x="6069423" y="2891892"/>
                <a:ext cx="278958" cy="278958"/>
              </a:xfrm>
              <a:custGeom>
                <a:avLst/>
                <a:gdLst/>
                <a:ahLst/>
                <a:cxnLst/>
                <a:rect l="l" t="t" r="r" b="b"/>
                <a:pathLst>
                  <a:path w="8764" h="8764" extrusionOk="0">
                    <a:moveTo>
                      <a:pt x="4120" y="1"/>
                    </a:moveTo>
                    <a:cubicBezTo>
                      <a:pt x="3858" y="1"/>
                      <a:pt x="3632" y="203"/>
                      <a:pt x="3572" y="453"/>
                    </a:cubicBezTo>
                    <a:lnTo>
                      <a:pt x="3406" y="1299"/>
                    </a:lnTo>
                    <a:cubicBezTo>
                      <a:pt x="3227" y="1358"/>
                      <a:pt x="3060" y="1418"/>
                      <a:pt x="2906" y="1513"/>
                    </a:cubicBezTo>
                    <a:lnTo>
                      <a:pt x="2191" y="1037"/>
                    </a:lnTo>
                    <a:cubicBezTo>
                      <a:pt x="2096" y="971"/>
                      <a:pt x="1987" y="940"/>
                      <a:pt x="1879" y="940"/>
                    </a:cubicBezTo>
                    <a:cubicBezTo>
                      <a:pt x="1732" y="940"/>
                      <a:pt x="1587" y="998"/>
                      <a:pt x="1477" y="1108"/>
                    </a:cubicBezTo>
                    <a:lnTo>
                      <a:pt x="1096" y="1477"/>
                    </a:lnTo>
                    <a:cubicBezTo>
                      <a:pt x="905" y="1668"/>
                      <a:pt x="882" y="1965"/>
                      <a:pt x="1024" y="2191"/>
                    </a:cubicBezTo>
                    <a:lnTo>
                      <a:pt x="1501" y="2906"/>
                    </a:lnTo>
                    <a:cubicBezTo>
                      <a:pt x="1417" y="3073"/>
                      <a:pt x="1358" y="3239"/>
                      <a:pt x="1298" y="3406"/>
                    </a:cubicBezTo>
                    <a:lnTo>
                      <a:pt x="441" y="3573"/>
                    </a:lnTo>
                    <a:cubicBezTo>
                      <a:pt x="179" y="3632"/>
                      <a:pt x="0" y="3858"/>
                      <a:pt x="0" y="4132"/>
                    </a:cubicBezTo>
                    <a:lnTo>
                      <a:pt x="0" y="4644"/>
                    </a:lnTo>
                    <a:cubicBezTo>
                      <a:pt x="0" y="4918"/>
                      <a:pt x="191" y="5132"/>
                      <a:pt x="441" y="5204"/>
                    </a:cubicBezTo>
                    <a:lnTo>
                      <a:pt x="1298" y="5359"/>
                    </a:lnTo>
                    <a:cubicBezTo>
                      <a:pt x="1358" y="5537"/>
                      <a:pt x="1417" y="5704"/>
                      <a:pt x="1501" y="5871"/>
                    </a:cubicBezTo>
                    <a:lnTo>
                      <a:pt x="1024" y="6585"/>
                    </a:lnTo>
                    <a:cubicBezTo>
                      <a:pt x="882" y="6811"/>
                      <a:pt x="905" y="7109"/>
                      <a:pt x="1096" y="7299"/>
                    </a:cubicBezTo>
                    <a:lnTo>
                      <a:pt x="1477" y="7668"/>
                    </a:lnTo>
                    <a:cubicBezTo>
                      <a:pt x="1587" y="7778"/>
                      <a:pt x="1732" y="7837"/>
                      <a:pt x="1879" y="7837"/>
                    </a:cubicBezTo>
                    <a:cubicBezTo>
                      <a:pt x="1987" y="7837"/>
                      <a:pt x="2096" y="7805"/>
                      <a:pt x="2191" y="7740"/>
                    </a:cubicBezTo>
                    <a:lnTo>
                      <a:pt x="2906" y="7264"/>
                    </a:lnTo>
                    <a:cubicBezTo>
                      <a:pt x="3060" y="7359"/>
                      <a:pt x="3227" y="7418"/>
                      <a:pt x="3406" y="7478"/>
                    </a:cubicBezTo>
                    <a:lnTo>
                      <a:pt x="3572" y="8323"/>
                    </a:lnTo>
                    <a:cubicBezTo>
                      <a:pt x="3632" y="8585"/>
                      <a:pt x="3858" y="8764"/>
                      <a:pt x="4120" y="8764"/>
                    </a:cubicBezTo>
                    <a:lnTo>
                      <a:pt x="4644" y="8764"/>
                    </a:lnTo>
                    <a:cubicBezTo>
                      <a:pt x="4906" y="8764"/>
                      <a:pt x="5132" y="8573"/>
                      <a:pt x="5192" y="8323"/>
                    </a:cubicBezTo>
                    <a:lnTo>
                      <a:pt x="5358" y="7478"/>
                    </a:lnTo>
                    <a:cubicBezTo>
                      <a:pt x="5489" y="7430"/>
                      <a:pt x="5620" y="7371"/>
                      <a:pt x="5763" y="7311"/>
                    </a:cubicBezTo>
                    <a:cubicBezTo>
                      <a:pt x="5846" y="7299"/>
                      <a:pt x="5894" y="7192"/>
                      <a:pt x="5846" y="7109"/>
                    </a:cubicBezTo>
                    <a:cubicBezTo>
                      <a:pt x="5812" y="7039"/>
                      <a:pt x="5751" y="6995"/>
                      <a:pt x="5684" y="6995"/>
                    </a:cubicBezTo>
                    <a:cubicBezTo>
                      <a:pt x="5659" y="6995"/>
                      <a:pt x="5634" y="7001"/>
                      <a:pt x="5608" y="7014"/>
                    </a:cubicBezTo>
                    <a:cubicBezTo>
                      <a:pt x="5465" y="7085"/>
                      <a:pt x="5311" y="7144"/>
                      <a:pt x="5144" y="7180"/>
                    </a:cubicBezTo>
                    <a:cubicBezTo>
                      <a:pt x="5084" y="7192"/>
                      <a:pt x="5025" y="7252"/>
                      <a:pt x="5013" y="7311"/>
                    </a:cubicBezTo>
                    <a:lnTo>
                      <a:pt x="4823" y="8264"/>
                    </a:lnTo>
                    <a:cubicBezTo>
                      <a:pt x="4811" y="8347"/>
                      <a:pt x="4715" y="8430"/>
                      <a:pt x="4632" y="8430"/>
                    </a:cubicBezTo>
                    <a:lnTo>
                      <a:pt x="4108" y="8430"/>
                    </a:lnTo>
                    <a:cubicBezTo>
                      <a:pt x="4013" y="8430"/>
                      <a:pt x="3930" y="8347"/>
                      <a:pt x="3918" y="8264"/>
                    </a:cubicBezTo>
                    <a:lnTo>
                      <a:pt x="3715" y="7311"/>
                    </a:lnTo>
                    <a:cubicBezTo>
                      <a:pt x="3703" y="7252"/>
                      <a:pt x="3656" y="7192"/>
                      <a:pt x="3584" y="7180"/>
                    </a:cubicBezTo>
                    <a:cubicBezTo>
                      <a:pt x="3358" y="7121"/>
                      <a:pt x="3156" y="7025"/>
                      <a:pt x="2965" y="6906"/>
                    </a:cubicBezTo>
                    <a:cubicBezTo>
                      <a:pt x="2935" y="6894"/>
                      <a:pt x="2900" y="6888"/>
                      <a:pt x="2864" y="6888"/>
                    </a:cubicBezTo>
                    <a:cubicBezTo>
                      <a:pt x="2828" y="6888"/>
                      <a:pt x="2792" y="6894"/>
                      <a:pt x="2763" y="6906"/>
                    </a:cubicBezTo>
                    <a:lnTo>
                      <a:pt x="1965" y="7442"/>
                    </a:lnTo>
                    <a:cubicBezTo>
                      <a:pt x="1934" y="7468"/>
                      <a:pt x="1894" y="7480"/>
                      <a:pt x="1854" y="7480"/>
                    </a:cubicBezTo>
                    <a:cubicBezTo>
                      <a:pt x="1802" y="7480"/>
                      <a:pt x="1749" y="7459"/>
                      <a:pt x="1715" y="7418"/>
                    </a:cubicBezTo>
                    <a:lnTo>
                      <a:pt x="1334" y="7049"/>
                    </a:lnTo>
                    <a:cubicBezTo>
                      <a:pt x="1263" y="6966"/>
                      <a:pt x="1263" y="6859"/>
                      <a:pt x="1310" y="6787"/>
                    </a:cubicBezTo>
                    <a:lnTo>
                      <a:pt x="1846" y="5990"/>
                    </a:lnTo>
                    <a:cubicBezTo>
                      <a:pt x="1882" y="5930"/>
                      <a:pt x="1882" y="5859"/>
                      <a:pt x="1846" y="5799"/>
                    </a:cubicBezTo>
                    <a:cubicBezTo>
                      <a:pt x="1727" y="5597"/>
                      <a:pt x="1655" y="5382"/>
                      <a:pt x="1572" y="5168"/>
                    </a:cubicBezTo>
                    <a:cubicBezTo>
                      <a:pt x="1560" y="5109"/>
                      <a:pt x="1501" y="5049"/>
                      <a:pt x="1441" y="5037"/>
                    </a:cubicBezTo>
                    <a:lnTo>
                      <a:pt x="489" y="4847"/>
                    </a:lnTo>
                    <a:cubicBezTo>
                      <a:pt x="393" y="4823"/>
                      <a:pt x="322" y="4739"/>
                      <a:pt x="322" y="4644"/>
                    </a:cubicBezTo>
                    <a:lnTo>
                      <a:pt x="322" y="4132"/>
                    </a:lnTo>
                    <a:cubicBezTo>
                      <a:pt x="322" y="4037"/>
                      <a:pt x="393" y="3954"/>
                      <a:pt x="489" y="3930"/>
                    </a:cubicBezTo>
                    <a:lnTo>
                      <a:pt x="1441" y="3739"/>
                    </a:lnTo>
                    <a:cubicBezTo>
                      <a:pt x="1501" y="3727"/>
                      <a:pt x="1560" y="3680"/>
                      <a:pt x="1572" y="3608"/>
                    </a:cubicBezTo>
                    <a:cubicBezTo>
                      <a:pt x="1632" y="3382"/>
                      <a:pt x="1727" y="3180"/>
                      <a:pt x="1846" y="2977"/>
                    </a:cubicBezTo>
                    <a:cubicBezTo>
                      <a:pt x="1870" y="2918"/>
                      <a:pt x="1870" y="2846"/>
                      <a:pt x="1846" y="2787"/>
                    </a:cubicBezTo>
                    <a:lnTo>
                      <a:pt x="1310" y="1989"/>
                    </a:lnTo>
                    <a:cubicBezTo>
                      <a:pt x="1251" y="1906"/>
                      <a:pt x="1263" y="1787"/>
                      <a:pt x="1334" y="1727"/>
                    </a:cubicBezTo>
                    <a:lnTo>
                      <a:pt x="1715" y="1358"/>
                    </a:lnTo>
                    <a:cubicBezTo>
                      <a:pt x="1754" y="1319"/>
                      <a:pt x="1804" y="1301"/>
                      <a:pt x="1854" y="1301"/>
                    </a:cubicBezTo>
                    <a:cubicBezTo>
                      <a:pt x="1894" y="1301"/>
                      <a:pt x="1933" y="1313"/>
                      <a:pt x="1965" y="1334"/>
                    </a:cubicBezTo>
                    <a:lnTo>
                      <a:pt x="2763" y="1870"/>
                    </a:lnTo>
                    <a:cubicBezTo>
                      <a:pt x="2792" y="1888"/>
                      <a:pt x="2828" y="1897"/>
                      <a:pt x="2864" y="1897"/>
                    </a:cubicBezTo>
                    <a:cubicBezTo>
                      <a:pt x="2900" y="1897"/>
                      <a:pt x="2935" y="1888"/>
                      <a:pt x="2965" y="1870"/>
                    </a:cubicBezTo>
                    <a:cubicBezTo>
                      <a:pt x="3156" y="1751"/>
                      <a:pt x="3382" y="1668"/>
                      <a:pt x="3584" y="1596"/>
                    </a:cubicBezTo>
                    <a:cubicBezTo>
                      <a:pt x="3644" y="1584"/>
                      <a:pt x="3703" y="1525"/>
                      <a:pt x="3715" y="1465"/>
                    </a:cubicBezTo>
                    <a:lnTo>
                      <a:pt x="3918" y="513"/>
                    </a:lnTo>
                    <a:cubicBezTo>
                      <a:pt x="3930" y="417"/>
                      <a:pt x="4013" y="346"/>
                      <a:pt x="4108" y="346"/>
                    </a:cubicBezTo>
                    <a:lnTo>
                      <a:pt x="4632" y="346"/>
                    </a:lnTo>
                    <a:cubicBezTo>
                      <a:pt x="4715" y="346"/>
                      <a:pt x="4811" y="417"/>
                      <a:pt x="4823" y="513"/>
                    </a:cubicBezTo>
                    <a:lnTo>
                      <a:pt x="5013" y="1465"/>
                    </a:lnTo>
                    <a:cubicBezTo>
                      <a:pt x="5025" y="1525"/>
                      <a:pt x="5073" y="1584"/>
                      <a:pt x="5144" y="1596"/>
                    </a:cubicBezTo>
                    <a:cubicBezTo>
                      <a:pt x="5370" y="1656"/>
                      <a:pt x="5585" y="1751"/>
                      <a:pt x="5775" y="1870"/>
                    </a:cubicBezTo>
                    <a:cubicBezTo>
                      <a:pt x="5805" y="1882"/>
                      <a:pt x="5838" y="1888"/>
                      <a:pt x="5870" y="1888"/>
                    </a:cubicBezTo>
                    <a:cubicBezTo>
                      <a:pt x="5903" y="1888"/>
                      <a:pt x="5936" y="1882"/>
                      <a:pt x="5966" y="1870"/>
                    </a:cubicBezTo>
                    <a:lnTo>
                      <a:pt x="6775" y="1334"/>
                    </a:lnTo>
                    <a:cubicBezTo>
                      <a:pt x="6806" y="1309"/>
                      <a:pt x="6846" y="1296"/>
                      <a:pt x="6886" y="1296"/>
                    </a:cubicBezTo>
                    <a:cubicBezTo>
                      <a:pt x="6938" y="1296"/>
                      <a:pt x="6991" y="1317"/>
                      <a:pt x="7025" y="1358"/>
                    </a:cubicBezTo>
                    <a:lnTo>
                      <a:pt x="7394" y="1727"/>
                    </a:lnTo>
                    <a:cubicBezTo>
                      <a:pt x="7466" y="1810"/>
                      <a:pt x="7466" y="1906"/>
                      <a:pt x="7430" y="1989"/>
                    </a:cubicBezTo>
                    <a:lnTo>
                      <a:pt x="6894" y="2787"/>
                    </a:lnTo>
                    <a:cubicBezTo>
                      <a:pt x="6847" y="2846"/>
                      <a:pt x="6847" y="2918"/>
                      <a:pt x="6894" y="2977"/>
                    </a:cubicBezTo>
                    <a:cubicBezTo>
                      <a:pt x="7013" y="3180"/>
                      <a:pt x="7085" y="3394"/>
                      <a:pt x="7156" y="3608"/>
                    </a:cubicBezTo>
                    <a:cubicBezTo>
                      <a:pt x="7168" y="3668"/>
                      <a:pt x="7228" y="3727"/>
                      <a:pt x="7287" y="3739"/>
                    </a:cubicBezTo>
                    <a:lnTo>
                      <a:pt x="8240" y="3930"/>
                    </a:lnTo>
                    <a:cubicBezTo>
                      <a:pt x="8335" y="3954"/>
                      <a:pt x="8406" y="4037"/>
                      <a:pt x="8406" y="4132"/>
                    </a:cubicBezTo>
                    <a:lnTo>
                      <a:pt x="8406" y="4644"/>
                    </a:lnTo>
                    <a:cubicBezTo>
                      <a:pt x="8406" y="4739"/>
                      <a:pt x="8335" y="4823"/>
                      <a:pt x="8240" y="4847"/>
                    </a:cubicBezTo>
                    <a:lnTo>
                      <a:pt x="7287" y="5037"/>
                    </a:lnTo>
                    <a:cubicBezTo>
                      <a:pt x="7228" y="5049"/>
                      <a:pt x="7168" y="5097"/>
                      <a:pt x="7156" y="5168"/>
                    </a:cubicBezTo>
                    <a:cubicBezTo>
                      <a:pt x="7109" y="5335"/>
                      <a:pt x="7049" y="5478"/>
                      <a:pt x="6978" y="5632"/>
                    </a:cubicBezTo>
                    <a:cubicBezTo>
                      <a:pt x="6930" y="5716"/>
                      <a:pt x="6978" y="5823"/>
                      <a:pt x="7073" y="5871"/>
                    </a:cubicBezTo>
                    <a:cubicBezTo>
                      <a:pt x="7095" y="5883"/>
                      <a:pt x="7119" y="5889"/>
                      <a:pt x="7143" y="5889"/>
                    </a:cubicBezTo>
                    <a:cubicBezTo>
                      <a:pt x="7209" y="5889"/>
                      <a:pt x="7276" y="5845"/>
                      <a:pt x="7311" y="5775"/>
                    </a:cubicBezTo>
                    <a:cubicBezTo>
                      <a:pt x="7370" y="5644"/>
                      <a:pt x="7430" y="5513"/>
                      <a:pt x="7466" y="5359"/>
                    </a:cubicBezTo>
                    <a:lnTo>
                      <a:pt x="8323" y="5204"/>
                    </a:lnTo>
                    <a:cubicBezTo>
                      <a:pt x="8585" y="5144"/>
                      <a:pt x="8763" y="4918"/>
                      <a:pt x="8763" y="4644"/>
                    </a:cubicBezTo>
                    <a:lnTo>
                      <a:pt x="8763" y="4132"/>
                    </a:lnTo>
                    <a:cubicBezTo>
                      <a:pt x="8763" y="3858"/>
                      <a:pt x="8573" y="3632"/>
                      <a:pt x="8323" y="3573"/>
                    </a:cubicBezTo>
                    <a:lnTo>
                      <a:pt x="7466" y="3406"/>
                    </a:lnTo>
                    <a:cubicBezTo>
                      <a:pt x="7406" y="3227"/>
                      <a:pt x="7347" y="3073"/>
                      <a:pt x="7263" y="2906"/>
                    </a:cubicBezTo>
                    <a:lnTo>
                      <a:pt x="7740" y="2191"/>
                    </a:lnTo>
                    <a:cubicBezTo>
                      <a:pt x="7882" y="1965"/>
                      <a:pt x="7859" y="1668"/>
                      <a:pt x="7668" y="1477"/>
                    </a:cubicBezTo>
                    <a:lnTo>
                      <a:pt x="7287" y="1108"/>
                    </a:lnTo>
                    <a:cubicBezTo>
                      <a:pt x="7177" y="998"/>
                      <a:pt x="7032" y="940"/>
                      <a:pt x="6885" y="940"/>
                    </a:cubicBezTo>
                    <a:cubicBezTo>
                      <a:pt x="6777" y="940"/>
                      <a:pt x="6668" y="971"/>
                      <a:pt x="6573" y="1037"/>
                    </a:cubicBezTo>
                    <a:lnTo>
                      <a:pt x="5858" y="1513"/>
                    </a:lnTo>
                    <a:cubicBezTo>
                      <a:pt x="5704" y="1418"/>
                      <a:pt x="5537" y="1358"/>
                      <a:pt x="5358" y="1299"/>
                    </a:cubicBezTo>
                    <a:lnTo>
                      <a:pt x="5192" y="453"/>
                    </a:lnTo>
                    <a:cubicBezTo>
                      <a:pt x="5132" y="179"/>
                      <a:pt x="4906" y="1"/>
                      <a:pt x="46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24;p31">
                <a:extLst>
                  <a:ext uri="{FF2B5EF4-FFF2-40B4-BE49-F238E27FC236}">
                    <a16:creationId xmlns:a16="http://schemas.microsoft.com/office/drawing/2014/main" id="{2CC944DE-D667-8607-7E74-4FA284100A5E}"/>
                  </a:ext>
                </a:extLst>
              </p:cNvPr>
              <p:cNvSpPr/>
              <p:nvPr/>
            </p:nvSpPr>
            <p:spPr>
              <a:xfrm>
                <a:off x="6161507" y="2967679"/>
                <a:ext cx="111851" cy="97432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061" extrusionOk="0">
                    <a:moveTo>
                      <a:pt x="1489" y="1"/>
                    </a:moveTo>
                    <a:cubicBezTo>
                      <a:pt x="965" y="1"/>
                      <a:pt x="465" y="215"/>
                      <a:pt x="84" y="584"/>
                    </a:cubicBezTo>
                    <a:cubicBezTo>
                      <a:pt x="1" y="656"/>
                      <a:pt x="1" y="763"/>
                      <a:pt x="84" y="834"/>
                    </a:cubicBezTo>
                    <a:cubicBezTo>
                      <a:pt x="120" y="870"/>
                      <a:pt x="164" y="888"/>
                      <a:pt x="209" y="888"/>
                    </a:cubicBezTo>
                    <a:cubicBezTo>
                      <a:pt x="254" y="888"/>
                      <a:pt x="298" y="870"/>
                      <a:pt x="334" y="834"/>
                    </a:cubicBezTo>
                    <a:cubicBezTo>
                      <a:pt x="644" y="537"/>
                      <a:pt x="1060" y="358"/>
                      <a:pt x="1489" y="358"/>
                    </a:cubicBezTo>
                    <a:cubicBezTo>
                      <a:pt x="2418" y="358"/>
                      <a:pt x="3168" y="1108"/>
                      <a:pt x="3168" y="2025"/>
                    </a:cubicBezTo>
                    <a:cubicBezTo>
                      <a:pt x="3168" y="2299"/>
                      <a:pt x="3096" y="2549"/>
                      <a:pt x="2989" y="2787"/>
                    </a:cubicBezTo>
                    <a:cubicBezTo>
                      <a:pt x="2930" y="2894"/>
                      <a:pt x="2953" y="2989"/>
                      <a:pt x="3049" y="3037"/>
                    </a:cubicBezTo>
                    <a:cubicBezTo>
                      <a:pt x="3073" y="3061"/>
                      <a:pt x="3108" y="3061"/>
                      <a:pt x="3132" y="3061"/>
                    </a:cubicBezTo>
                    <a:cubicBezTo>
                      <a:pt x="3192" y="3061"/>
                      <a:pt x="3263" y="3025"/>
                      <a:pt x="3299" y="2954"/>
                    </a:cubicBezTo>
                    <a:cubicBezTo>
                      <a:pt x="3442" y="2668"/>
                      <a:pt x="3513" y="2358"/>
                      <a:pt x="3513" y="2025"/>
                    </a:cubicBezTo>
                    <a:cubicBezTo>
                      <a:pt x="3513" y="906"/>
                      <a:pt x="2608" y="1"/>
                      <a:pt x="1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25;p31">
                <a:extLst>
                  <a:ext uri="{FF2B5EF4-FFF2-40B4-BE49-F238E27FC236}">
                    <a16:creationId xmlns:a16="http://schemas.microsoft.com/office/drawing/2014/main" id="{A8409779-AEA5-5A0C-6A69-DFC1277B266C}"/>
                  </a:ext>
                </a:extLst>
              </p:cNvPr>
              <p:cNvSpPr/>
              <p:nvPr/>
            </p:nvSpPr>
            <p:spPr>
              <a:xfrm>
                <a:off x="6144828" y="3007848"/>
                <a:ext cx="105389" cy="88742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2788" extrusionOk="0">
                    <a:moveTo>
                      <a:pt x="262" y="1"/>
                    </a:moveTo>
                    <a:cubicBezTo>
                      <a:pt x="194" y="1"/>
                      <a:pt x="124" y="44"/>
                      <a:pt x="96" y="108"/>
                    </a:cubicBezTo>
                    <a:cubicBezTo>
                      <a:pt x="25" y="323"/>
                      <a:pt x="1" y="549"/>
                      <a:pt x="1" y="763"/>
                    </a:cubicBezTo>
                    <a:cubicBezTo>
                      <a:pt x="1" y="1882"/>
                      <a:pt x="906" y="2787"/>
                      <a:pt x="2013" y="2787"/>
                    </a:cubicBezTo>
                    <a:cubicBezTo>
                      <a:pt x="2454" y="2787"/>
                      <a:pt x="2846" y="2656"/>
                      <a:pt x="3204" y="2406"/>
                    </a:cubicBezTo>
                    <a:cubicBezTo>
                      <a:pt x="3287" y="2347"/>
                      <a:pt x="3311" y="2239"/>
                      <a:pt x="3251" y="2156"/>
                    </a:cubicBezTo>
                    <a:cubicBezTo>
                      <a:pt x="3214" y="2104"/>
                      <a:pt x="3159" y="2075"/>
                      <a:pt x="3102" y="2075"/>
                    </a:cubicBezTo>
                    <a:cubicBezTo>
                      <a:pt x="3068" y="2075"/>
                      <a:pt x="3033" y="2086"/>
                      <a:pt x="3001" y="2108"/>
                    </a:cubicBezTo>
                    <a:cubicBezTo>
                      <a:pt x="2715" y="2311"/>
                      <a:pt x="2370" y="2418"/>
                      <a:pt x="2037" y="2418"/>
                    </a:cubicBezTo>
                    <a:cubicBezTo>
                      <a:pt x="1108" y="2418"/>
                      <a:pt x="370" y="1680"/>
                      <a:pt x="370" y="751"/>
                    </a:cubicBezTo>
                    <a:cubicBezTo>
                      <a:pt x="370" y="573"/>
                      <a:pt x="394" y="382"/>
                      <a:pt x="453" y="215"/>
                    </a:cubicBezTo>
                    <a:cubicBezTo>
                      <a:pt x="477" y="144"/>
                      <a:pt x="406" y="37"/>
                      <a:pt x="322" y="13"/>
                    </a:cubicBezTo>
                    <a:cubicBezTo>
                      <a:pt x="303" y="5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26;p31">
                <a:extLst>
                  <a:ext uri="{FF2B5EF4-FFF2-40B4-BE49-F238E27FC236}">
                    <a16:creationId xmlns:a16="http://schemas.microsoft.com/office/drawing/2014/main" id="{FC2DFB2F-D444-DF85-8C1E-3E4DA7639308}"/>
                  </a:ext>
                </a:extLst>
              </p:cNvPr>
              <p:cNvSpPr/>
              <p:nvPr/>
            </p:nvSpPr>
            <p:spPr>
              <a:xfrm>
                <a:off x="6245633" y="3069248"/>
                <a:ext cx="186110" cy="186874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5871" extrusionOk="0">
                    <a:moveTo>
                      <a:pt x="2751" y="1"/>
                    </a:moveTo>
                    <a:cubicBezTo>
                      <a:pt x="2549" y="1"/>
                      <a:pt x="2370" y="144"/>
                      <a:pt x="2335" y="346"/>
                    </a:cubicBezTo>
                    <a:lnTo>
                      <a:pt x="2227" y="858"/>
                    </a:lnTo>
                    <a:cubicBezTo>
                      <a:pt x="2144" y="894"/>
                      <a:pt x="2037" y="941"/>
                      <a:pt x="1965" y="977"/>
                    </a:cubicBezTo>
                    <a:lnTo>
                      <a:pt x="1513" y="680"/>
                    </a:lnTo>
                    <a:cubicBezTo>
                      <a:pt x="1449" y="631"/>
                      <a:pt x="1372" y="608"/>
                      <a:pt x="1293" y="608"/>
                    </a:cubicBezTo>
                    <a:cubicBezTo>
                      <a:pt x="1179" y="608"/>
                      <a:pt x="1061" y="655"/>
                      <a:pt x="977" y="739"/>
                    </a:cubicBezTo>
                    <a:lnTo>
                      <a:pt x="739" y="977"/>
                    </a:lnTo>
                    <a:cubicBezTo>
                      <a:pt x="596" y="1132"/>
                      <a:pt x="584" y="1346"/>
                      <a:pt x="680" y="1513"/>
                    </a:cubicBezTo>
                    <a:lnTo>
                      <a:pt x="977" y="1965"/>
                    </a:lnTo>
                    <a:cubicBezTo>
                      <a:pt x="918" y="2084"/>
                      <a:pt x="882" y="2215"/>
                      <a:pt x="834" y="2346"/>
                    </a:cubicBezTo>
                    <a:cubicBezTo>
                      <a:pt x="799" y="2442"/>
                      <a:pt x="858" y="2537"/>
                      <a:pt x="953" y="2573"/>
                    </a:cubicBezTo>
                    <a:cubicBezTo>
                      <a:pt x="968" y="2579"/>
                      <a:pt x="984" y="2582"/>
                      <a:pt x="1000" y="2582"/>
                    </a:cubicBezTo>
                    <a:cubicBezTo>
                      <a:pt x="1073" y="2582"/>
                      <a:pt x="1150" y="2522"/>
                      <a:pt x="1180" y="2454"/>
                    </a:cubicBezTo>
                    <a:cubicBezTo>
                      <a:pt x="1215" y="2323"/>
                      <a:pt x="1263" y="2192"/>
                      <a:pt x="1334" y="2049"/>
                    </a:cubicBezTo>
                    <a:cubicBezTo>
                      <a:pt x="1370" y="1989"/>
                      <a:pt x="1370" y="1918"/>
                      <a:pt x="1334" y="1858"/>
                    </a:cubicBezTo>
                    <a:lnTo>
                      <a:pt x="977" y="1322"/>
                    </a:lnTo>
                    <a:cubicBezTo>
                      <a:pt x="965" y="1287"/>
                      <a:pt x="965" y="1263"/>
                      <a:pt x="1001" y="1239"/>
                    </a:cubicBezTo>
                    <a:lnTo>
                      <a:pt x="1239" y="989"/>
                    </a:lnTo>
                    <a:cubicBezTo>
                      <a:pt x="1253" y="975"/>
                      <a:pt x="1271" y="969"/>
                      <a:pt x="1288" y="969"/>
                    </a:cubicBezTo>
                    <a:cubicBezTo>
                      <a:pt x="1301" y="969"/>
                      <a:pt x="1313" y="972"/>
                      <a:pt x="1322" y="977"/>
                    </a:cubicBezTo>
                    <a:lnTo>
                      <a:pt x="1858" y="1334"/>
                    </a:lnTo>
                    <a:cubicBezTo>
                      <a:pt x="1888" y="1358"/>
                      <a:pt x="1921" y="1370"/>
                      <a:pt x="1954" y="1370"/>
                    </a:cubicBezTo>
                    <a:cubicBezTo>
                      <a:pt x="1986" y="1370"/>
                      <a:pt x="2019" y="1358"/>
                      <a:pt x="2049" y="1334"/>
                    </a:cubicBezTo>
                    <a:cubicBezTo>
                      <a:pt x="2168" y="1263"/>
                      <a:pt x="2323" y="1203"/>
                      <a:pt x="2454" y="1168"/>
                    </a:cubicBezTo>
                    <a:cubicBezTo>
                      <a:pt x="2513" y="1156"/>
                      <a:pt x="2573" y="1096"/>
                      <a:pt x="2585" y="1037"/>
                    </a:cubicBezTo>
                    <a:lnTo>
                      <a:pt x="2704" y="418"/>
                    </a:lnTo>
                    <a:cubicBezTo>
                      <a:pt x="2704" y="382"/>
                      <a:pt x="2739" y="358"/>
                      <a:pt x="2775" y="358"/>
                    </a:cubicBezTo>
                    <a:lnTo>
                      <a:pt x="3120" y="358"/>
                    </a:lnTo>
                    <a:cubicBezTo>
                      <a:pt x="3156" y="358"/>
                      <a:pt x="3180" y="382"/>
                      <a:pt x="3192" y="418"/>
                    </a:cubicBezTo>
                    <a:lnTo>
                      <a:pt x="3311" y="1037"/>
                    </a:lnTo>
                    <a:cubicBezTo>
                      <a:pt x="3335" y="1096"/>
                      <a:pt x="3370" y="1156"/>
                      <a:pt x="3454" y="1168"/>
                    </a:cubicBezTo>
                    <a:cubicBezTo>
                      <a:pt x="3585" y="1215"/>
                      <a:pt x="3716" y="1263"/>
                      <a:pt x="3847" y="1334"/>
                    </a:cubicBezTo>
                    <a:cubicBezTo>
                      <a:pt x="3882" y="1352"/>
                      <a:pt x="3918" y="1361"/>
                      <a:pt x="3952" y="1361"/>
                    </a:cubicBezTo>
                    <a:cubicBezTo>
                      <a:pt x="3987" y="1361"/>
                      <a:pt x="4019" y="1352"/>
                      <a:pt x="4049" y="1334"/>
                    </a:cubicBezTo>
                    <a:lnTo>
                      <a:pt x="4585" y="977"/>
                    </a:lnTo>
                    <a:cubicBezTo>
                      <a:pt x="4595" y="972"/>
                      <a:pt x="4607" y="969"/>
                      <a:pt x="4619" y="969"/>
                    </a:cubicBezTo>
                    <a:cubicBezTo>
                      <a:pt x="4636" y="969"/>
                      <a:pt x="4654" y="975"/>
                      <a:pt x="4668" y="989"/>
                    </a:cubicBezTo>
                    <a:lnTo>
                      <a:pt x="4906" y="1239"/>
                    </a:lnTo>
                    <a:cubicBezTo>
                      <a:pt x="4942" y="1263"/>
                      <a:pt x="4942" y="1287"/>
                      <a:pt x="4918" y="1322"/>
                    </a:cubicBezTo>
                    <a:lnTo>
                      <a:pt x="4561" y="1858"/>
                    </a:lnTo>
                    <a:cubicBezTo>
                      <a:pt x="4525" y="1918"/>
                      <a:pt x="4525" y="1989"/>
                      <a:pt x="4561" y="2049"/>
                    </a:cubicBezTo>
                    <a:cubicBezTo>
                      <a:pt x="4644" y="2168"/>
                      <a:pt x="4704" y="2323"/>
                      <a:pt x="4728" y="2454"/>
                    </a:cubicBezTo>
                    <a:cubicBezTo>
                      <a:pt x="4740" y="2513"/>
                      <a:pt x="4799" y="2573"/>
                      <a:pt x="4859" y="2585"/>
                    </a:cubicBezTo>
                    <a:lnTo>
                      <a:pt x="5490" y="2704"/>
                    </a:lnTo>
                    <a:cubicBezTo>
                      <a:pt x="5513" y="2704"/>
                      <a:pt x="5549" y="2739"/>
                      <a:pt x="5549" y="2775"/>
                    </a:cubicBezTo>
                    <a:lnTo>
                      <a:pt x="5549" y="3120"/>
                    </a:lnTo>
                    <a:cubicBezTo>
                      <a:pt x="5549" y="3156"/>
                      <a:pt x="5513" y="3180"/>
                      <a:pt x="5490" y="3192"/>
                    </a:cubicBezTo>
                    <a:lnTo>
                      <a:pt x="4859" y="3311"/>
                    </a:lnTo>
                    <a:cubicBezTo>
                      <a:pt x="4799" y="3335"/>
                      <a:pt x="4740" y="3370"/>
                      <a:pt x="4728" y="3454"/>
                    </a:cubicBezTo>
                    <a:cubicBezTo>
                      <a:pt x="4680" y="3585"/>
                      <a:pt x="4644" y="3716"/>
                      <a:pt x="4561" y="3847"/>
                    </a:cubicBezTo>
                    <a:cubicBezTo>
                      <a:pt x="4537" y="3906"/>
                      <a:pt x="4537" y="3989"/>
                      <a:pt x="4561" y="4049"/>
                    </a:cubicBezTo>
                    <a:lnTo>
                      <a:pt x="4918" y="4585"/>
                    </a:lnTo>
                    <a:cubicBezTo>
                      <a:pt x="4942" y="4609"/>
                      <a:pt x="4942" y="4644"/>
                      <a:pt x="4906" y="4668"/>
                    </a:cubicBezTo>
                    <a:lnTo>
                      <a:pt x="4668" y="4906"/>
                    </a:lnTo>
                    <a:cubicBezTo>
                      <a:pt x="4655" y="4926"/>
                      <a:pt x="4638" y="4935"/>
                      <a:pt x="4622" y="4935"/>
                    </a:cubicBezTo>
                    <a:cubicBezTo>
                      <a:pt x="4609" y="4935"/>
                      <a:pt x="4595" y="4929"/>
                      <a:pt x="4585" y="4918"/>
                    </a:cubicBezTo>
                    <a:lnTo>
                      <a:pt x="4049" y="4561"/>
                    </a:lnTo>
                    <a:cubicBezTo>
                      <a:pt x="4019" y="4543"/>
                      <a:pt x="3984" y="4534"/>
                      <a:pt x="3948" y="4534"/>
                    </a:cubicBezTo>
                    <a:cubicBezTo>
                      <a:pt x="3912" y="4534"/>
                      <a:pt x="3876" y="4543"/>
                      <a:pt x="3847" y="4561"/>
                    </a:cubicBezTo>
                    <a:cubicBezTo>
                      <a:pt x="3728" y="4644"/>
                      <a:pt x="3585" y="4704"/>
                      <a:pt x="3454" y="4728"/>
                    </a:cubicBezTo>
                    <a:cubicBezTo>
                      <a:pt x="3394" y="4751"/>
                      <a:pt x="3335" y="4811"/>
                      <a:pt x="3311" y="4859"/>
                    </a:cubicBezTo>
                    <a:lnTo>
                      <a:pt x="3192" y="5490"/>
                    </a:lnTo>
                    <a:cubicBezTo>
                      <a:pt x="3192" y="5525"/>
                      <a:pt x="3168" y="5549"/>
                      <a:pt x="3120" y="5549"/>
                    </a:cubicBezTo>
                    <a:lnTo>
                      <a:pt x="2775" y="5549"/>
                    </a:lnTo>
                    <a:cubicBezTo>
                      <a:pt x="2751" y="5549"/>
                      <a:pt x="2716" y="5513"/>
                      <a:pt x="2704" y="5490"/>
                    </a:cubicBezTo>
                    <a:lnTo>
                      <a:pt x="2585" y="4859"/>
                    </a:lnTo>
                    <a:cubicBezTo>
                      <a:pt x="2573" y="4811"/>
                      <a:pt x="2525" y="4751"/>
                      <a:pt x="2454" y="4728"/>
                    </a:cubicBezTo>
                    <a:cubicBezTo>
                      <a:pt x="2323" y="4692"/>
                      <a:pt x="2180" y="4644"/>
                      <a:pt x="2049" y="4561"/>
                    </a:cubicBezTo>
                    <a:cubicBezTo>
                      <a:pt x="2019" y="4549"/>
                      <a:pt x="1986" y="4543"/>
                      <a:pt x="1954" y="4543"/>
                    </a:cubicBezTo>
                    <a:cubicBezTo>
                      <a:pt x="1921" y="4543"/>
                      <a:pt x="1888" y="4549"/>
                      <a:pt x="1858" y="4561"/>
                    </a:cubicBezTo>
                    <a:lnTo>
                      <a:pt x="1322" y="4918"/>
                    </a:lnTo>
                    <a:cubicBezTo>
                      <a:pt x="1306" y="4929"/>
                      <a:pt x="1293" y="4935"/>
                      <a:pt x="1280" y="4935"/>
                    </a:cubicBezTo>
                    <a:cubicBezTo>
                      <a:pt x="1265" y="4935"/>
                      <a:pt x="1252" y="4926"/>
                      <a:pt x="1239" y="4906"/>
                    </a:cubicBezTo>
                    <a:lnTo>
                      <a:pt x="1001" y="4668"/>
                    </a:lnTo>
                    <a:cubicBezTo>
                      <a:pt x="965" y="4644"/>
                      <a:pt x="965" y="4609"/>
                      <a:pt x="977" y="4585"/>
                    </a:cubicBezTo>
                    <a:lnTo>
                      <a:pt x="1334" y="4049"/>
                    </a:lnTo>
                    <a:cubicBezTo>
                      <a:pt x="1382" y="3989"/>
                      <a:pt x="1382" y="3906"/>
                      <a:pt x="1334" y="3847"/>
                    </a:cubicBezTo>
                    <a:cubicBezTo>
                      <a:pt x="1263" y="3728"/>
                      <a:pt x="1203" y="3585"/>
                      <a:pt x="1180" y="3454"/>
                    </a:cubicBezTo>
                    <a:cubicBezTo>
                      <a:pt x="1156" y="3394"/>
                      <a:pt x="1096" y="3335"/>
                      <a:pt x="1037" y="3311"/>
                    </a:cubicBezTo>
                    <a:lnTo>
                      <a:pt x="418" y="3192"/>
                    </a:lnTo>
                    <a:cubicBezTo>
                      <a:pt x="382" y="3192"/>
                      <a:pt x="358" y="3168"/>
                      <a:pt x="358" y="3120"/>
                    </a:cubicBezTo>
                    <a:lnTo>
                      <a:pt x="358" y="2775"/>
                    </a:lnTo>
                    <a:cubicBezTo>
                      <a:pt x="358" y="2751"/>
                      <a:pt x="382" y="2727"/>
                      <a:pt x="418" y="2704"/>
                    </a:cubicBezTo>
                    <a:lnTo>
                      <a:pt x="465" y="2692"/>
                    </a:lnTo>
                    <a:cubicBezTo>
                      <a:pt x="560" y="2680"/>
                      <a:pt x="620" y="2573"/>
                      <a:pt x="596" y="2477"/>
                    </a:cubicBezTo>
                    <a:cubicBezTo>
                      <a:pt x="586" y="2396"/>
                      <a:pt x="507" y="2341"/>
                      <a:pt x="425" y="2341"/>
                    </a:cubicBezTo>
                    <a:cubicBezTo>
                      <a:pt x="411" y="2341"/>
                      <a:pt x="396" y="2343"/>
                      <a:pt x="382" y="2346"/>
                    </a:cubicBezTo>
                    <a:lnTo>
                      <a:pt x="346" y="2370"/>
                    </a:lnTo>
                    <a:cubicBezTo>
                      <a:pt x="144" y="2406"/>
                      <a:pt x="1" y="2585"/>
                      <a:pt x="1" y="2775"/>
                    </a:cubicBezTo>
                    <a:lnTo>
                      <a:pt x="1" y="3120"/>
                    </a:lnTo>
                    <a:cubicBezTo>
                      <a:pt x="1" y="3335"/>
                      <a:pt x="144" y="3513"/>
                      <a:pt x="346" y="3537"/>
                    </a:cubicBezTo>
                    <a:lnTo>
                      <a:pt x="858" y="3644"/>
                    </a:lnTo>
                    <a:cubicBezTo>
                      <a:pt x="894" y="3728"/>
                      <a:pt x="941" y="3835"/>
                      <a:pt x="977" y="3906"/>
                    </a:cubicBezTo>
                    <a:lnTo>
                      <a:pt x="680" y="4359"/>
                    </a:lnTo>
                    <a:cubicBezTo>
                      <a:pt x="560" y="4525"/>
                      <a:pt x="596" y="4763"/>
                      <a:pt x="739" y="4894"/>
                    </a:cubicBezTo>
                    <a:lnTo>
                      <a:pt x="977" y="5132"/>
                    </a:lnTo>
                    <a:cubicBezTo>
                      <a:pt x="1067" y="5216"/>
                      <a:pt x="1182" y="5259"/>
                      <a:pt x="1292" y="5259"/>
                    </a:cubicBezTo>
                    <a:cubicBezTo>
                      <a:pt x="1371" y="5259"/>
                      <a:pt x="1448" y="5237"/>
                      <a:pt x="1513" y="5192"/>
                    </a:cubicBezTo>
                    <a:lnTo>
                      <a:pt x="1965" y="4894"/>
                    </a:lnTo>
                    <a:cubicBezTo>
                      <a:pt x="2049" y="4942"/>
                      <a:pt x="2144" y="4978"/>
                      <a:pt x="2227" y="5013"/>
                    </a:cubicBezTo>
                    <a:lnTo>
                      <a:pt x="2335" y="5537"/>
                    </a:lnTo>
                    <a:cubicBezTo>
                      <a:pt x="2382" y="5728"/>
                      <a:pt x="2561" y="5871"/>
                      <a:pt x="2751" y="5871"/>
                    </a:cubicBezTo>
                    <a:lnTo>
                      <a:pt x="3097" y="5871"/>
                    </a:lnTo>
                    <a:cubicBezTo>
                      <a:pt x="3299" y="5871"/>
                      <a:pt x="3478" y="5728"/>
                      <a:pt x="3513" y="5537"/>
                    </a:cubicBezTo>
                    <a:lnTo>
                      <a:pt x="3620" y="5013"/>
                    </a:lnTo>
                    <a:cubicBezTo>
                      <a:pt x="3704" y="4978"/>
                      <a:pt x="3811" y="4942"/>
                      <a:pt x="3882" y="4894"/>
                    </a:cubicBezTo>
                    <a:lnTo>
                      <a:pt x="4323" y="5192"/>
                    </a:lnTo>
                    <a:cubicBezTo>
                      <a:pt x="4391" y="5241"/>
                      <a:pt x="4472" y="5264"/>
                      <a:pt x="4552" y="5264"/>
                    </a:cubicBezTo>
                    <a:cubicBezTo>
                      <a:pt x="4667" y="5264"/>
                      <a:pt x="4781" y="5217"/>
                      <a:pt x="4859" y="5132"/>
                    </a:cubicBezTo>
                    <a:lnTo>
                      <a:pt x="5097" y="4894"/>
                    </a:lnTo>
                    <a:cubicBezTo>
                      <a:pt x="5252" y="4740"/>
                      <a:pt x="5263" y="4525"/>
                      <a:pt x="5156" y="4359"/>
                    </a:cubicBezTo>
                    <a:lnTo>
                      <a:pt x="4859" y="3906"/>
                    </a:lnTo>
                    <a:cubicBezTo>
                      <a:pt x="4906" y="3823"/>
                      <a:pt x="4954" y="3728"/>
                      <a:pt x="4978" y="3644"/>
                    </a:cubicBezTo>
                    <a:lnTo>
                      <a:pt x="5502" y="3537"/>
                    </a:lnTo>
                    <a:cubicBezTo>
                      <a:pt x="5692" y="3489"/>
                      <a:pt x="5847" y="3311"/>
                      <a:pt x="5847" y="3120"/>
                    </a:cubicBezTo>
                    <a:lnTo>
                      <a:pt x="5847" y="2775"/>
                    </a:lnTo>
                    <a:cubicBezTo>
                      <a:pt x="5847" y="2549"/>
                      <a:pt x="5716" y="2382"/>
                      <a:pt x="5502" y="2334"/>
                    </a:cubicBezTo>
                    <a:lnTo>
                      <a:pt x="4990" y="2227"/>
                    </a:lnTo>
                    <a:cubicBezTo>
                      <a:pt x="4954" y="2144"/>
                      <a:pt x="4906" y="2037"/>
                      <a:pt x="4871" y="1965"/>
                    </a:cubicBezTo>
                    <a:lnTo>
                      <a:pt x="5168" y="1513"/>
                    </a:lnTo>
                    <a:cubicBezTo>
                      <a:pt x="5287" y="1346"/>
                      <a:pt x="5252" y="1108"/>
                      <a:pt x="5109" y="977"/>
                    </a:cubicBezTo>
                    <a:lnTo>
                      <a:pt x="4871" y="739"/>
                    </a:lnTo>
                    <a:cubicBezTo>
                      <a:pt x="4780" y="656"/>
                      <a:pt x="4666" y="613"/>
                      <a:pt x="4555" y="613"/>
                    </a:cubicBezTo>
                    <a:cubicBezTo>
                      <a:pt x="4476" y="613"/>
                      <a:pt x="4399" y="635"/>
                      <a:pt x="4335" y="680"/>
                    </a:cubicBezTo>
                    <a:lnTo>
                      <a:pt x="3882" y="977"/>
                    </a:lnTo>
                    <a:cubicBezTo>
                      <a:pt x="3799" y="941"/>
                      <a:pt x="3704" y="894"/>
                      <a:pt x="3620" y="858"/>
                    </a:cubicBezTo>
                    <a:lnTo>
                      <a:pt x="3513" y="346"/>
                    </a:lnTo>
                    <a:cubicBezTo>
                      <a:pt x="3466" y="144"/>
                      <a:pt x="3287" y="1"/>
                      <a:pt x="30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27;p31">
                <a:extLst>
                  <a:ext uri="{FF2B5EF4-FFF2-40B4-BE49-F238E27FC236}">
                    <a16:creationId xmlns:a16="http://schemas.microsoft.com/office/drawing/2014/main" id="{0A9C4171-CBAB-46B0-C551-B59F1303EB53}"/>
                  </a:ext>
                </a:extLst>
              </p:cNvPr>
              <p:cNvSpPr/>
              <p:nvPr/>
            </p:nvSpPr>
            <p:spPr>
              <a:xfrm>
                <a:off x="6305888" y="3129884"/>
                <a:ext cx="64488" cy="64456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2025" extrusionOk="0">
                    <a:moveTo>
                      <a:pt x="1013" y="1"/>
                    </a:moveTo>
                    <a:cubicBezTo>
                      <a:pt x="453" y="1"/>
                      <a:pt x="1" y="441"/>
                      <a:pt x="1" y="1013"/>
                    </a:cubicBezTo>
                    <a:cubicBezTo>
                      <a:pt x="1" y="1561"/>
                      <a:pt x="442" y="2025"/>
                      <a:pt x="1013" y="2025"/>
                    </a:cubicBezTo>
                    <a:cubicBezTo>
                      <a:pt x="1227" y="2025"/>
                      <a:pt x="1442" y="1942"/>
                      <a:pt x="1620" y="1811"/>
                    </a:cubicBezTo>
                    <a:cubicBezTo>
                      <a:pt x="1692" y="1751"/>
                      <a:pt x="1704" y="1632"/>
                      <a:pt x="1644" y="1561"/>
                    </a:cubicBezTo>
                    <a:cubicBezTo>
                      <a:pt x="1608" y="1517"/>
                      <a:pt x="1549" y="1491"/>
                      <a:pt x="1493" y="1491"/>
                    </a:cubicBezTo>
                    <a:cubicBezTo>
                      <a:pt x="1457" y="1491"/>
                      <a:pt x="1422" y="1502"/>
                      <a:pt x="1394" y="1525"/>
                    </a:cubicBezTo>
                    <a:cubicBezTo>
                      <a:pt x="1275" y="1620"/>
                      <a:pt x="1144" y="1668"/>
                      <a:pt x="989" y="1668"/>
                    </a:cubicBezTo>
                    <a:cubicBezTo>
                      <a:pt x="632" y="1668"/>
                      <a:pt x="358" y="1370"/>
                      <a:pt x="358" y="1025"/>
                    </a:cubicBezTo>
                    <a:cubicBezTo>
                      <a:pt x="382" y="668"/>
                      <a:pt x="668" y="370"/>
                      <a:pt x="1025" y="370"/>
                    </a:cubicBezTo>
                    <a:cubicBezTo>
                      <a:pt x="1382" y="370"/>
                      <a:pt x="1668" y="668"/>
                      <a:pt x="1668" y="1013"/>
                    </a:cubicBezTo>
                    <a:cubicBezTo>
                      <a:pt x="1668" y="1120"/>
                      <a:pt x="1739" y="1191"/>
                      <a:pt x="1846" y="1191"/>
                    </a:cubicBezTo>
                    <a:cubicBezTo>
                      <a:pt x="1942" y="1191"/>
                      <a:pt x="2025" y="1120"/>
                      <a:pt x="2025" y="1013"/>
                    </a:cubicBezTo>
                    <a:cubicBezTo>
                      <a:pt x="2025" y="453"/>
                      <a:pt x="1573" y="1"/>
                      <a:pt x="10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28;p31">
                <a:extLst>
                  <a:ext uri="{FF2B5EF4-FFF2-40B4-BE49-F238E27FC236}">
                    <a16:creationId xmlns:a16="http://schemas.microsoft.com/office/drawing/2014/main" id="{7BE6E1E3-F314-662D-4584-9F1F9ABBBD91}"/>
                  </a:ext>
                </a:extLst>
              </p:cNvPr>
              <p:cNvSpPr/>
              <p:nvPr/>
            </p:nvSpPr>
            <p:spPr>
              <a:xfrm>
                <a:off x="6173634" y="2997631"/>
                <a:ext cx="70153" cy="70153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204" extrusionOk="0">
                    <a:moveTo>
                      <a:pt x="1096" y="370"/>
                    </a:moveTo>
                    <a:cubicBezTo>
                      <a:pt x="1501" y="370"/>
                      <a:pt x="1834" y="703"/>
                      <a:pt x="1834" y="1108"/>
                    </a:cubicBezTo>
                    <a:cubicBezTo>
                      <a:pt x="1834" y="1501"/>
                      <a:pt x="1501" y="1834"/>
                      <a:pt x="1096" y="1834"/>
                    </a:cubicBezTo>
                    <a:cubicBezTo>
                      <a:pt x="691" y="1834"/>
                      <a:pt x="370" y="1501"/>
                      <a:pt x="370" y="1108"/>
                    </a:cubicBezTo>
                    <a:cubicBezTo>
                      <a:pt x="370" y="703"/>
                      <a:pt x="703" y="370"/>
                      <a:pt x="1096" y="370"/>
                    </a:cubicBezTo>
                    <a:close/>
                    <a:moveTo>
                      <a:pt x="1096" y="1"/>
                    </a:moveTo>
                    <a:cubicBezTo>
                      <a:pt x="489" y="1"/>
                      <a:pt x="1" y="489"/>
                      <a:pt x="1" y="1108"/>
                    </a:cubicBezTo>
                    <a:cubicBezTo>
                      <a:pt x="1" y="1715"/>
                      <a:pt x="489" y="2203"/>
                      <a:pt x="1096" y="2203"/>
                    </a:cubicBezTo>
                    <a:cubicBezTo>
                      <a:pt x="1715" y="2191"/>
                      <a:pt x="2203" y="1703"/>
                      <a:pt x="2203" y="1108"/>
                    </a:cubicBezTo>
                    <a:cubicBezTo>
                      <a:pt x="2203" y="489"/>
                      <a:pt x="1715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" name="Google Shape;229;p31">
              <a:extLst>
                <a:ext uri="{FF2B5EF4-FFF2-40B4-BE49-F238E27FC236}">
                  <a16:creationId xmlns:a16="http://schemas.microsoft.com/office/drawing/2014/main" id="{84A5FF66-4B58-92AC-18B1-247636CF33AE}"/>
                </a:ext>
              </a:extLst>
            </p:cNvPr>
            <p:cNvSpPr/>
            <p:nvPr/>
          </p:nvSpPr>
          <p:spPr>
            <a:xfrm>
              <a:off x="7334911" y="4549376"/>
              <a:ext cx="258000" cy="258000"/>
            </a:xfrm>
            <a:prstGeom prst="roundRect">
              <a:avLst>
                <a:gd name="adj" fmla="val 16667"/>
              </a:avLst>
            </a:prstGeom>
            <a:solidFill>
              <a:srgbClr val="B24EBE"/>
            </a:soli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" name="Google Shape;230;p31">
              <a:extLst>
                <a:ext uri="{FF2B5EF4-FFF2-40B4-BE49-F238E27FC236}">
                  <a16:creationId xmlns:a16="http://schemas.microsoft.com/office/drawing/2014/main" id="{19BA62F9-8CC0-98A7-D955-C28BC35F9017}"/>
                </a:ext>
              </a:extLst>
            </p:cNvPr>
            <p:cNvCxnSpPr>
              <a:stCxn id="106" idx="2"/>
              <a:endCxn id="109" idx="3"/>
            </p:cNvCxnSpPr>
            <p:nvPr/>
          </p:nvCxnSpPr>
          <p:spPr>
            <a:xfrm rot="5400000">
              <a:off x="6853868" y="3490584"/>
              <a:ext cx="1926600" cy="448800"/>
            </a:xfrm>
            <a:prstGeom prst="bentConnector2">
              <a:avLst/>
            </a:prstGeom>
            <a:noFill/>
            <a:ln w="9525" cap="flat" cmpd="sng">
              <a:solidFill>
                <a:srgbClr val="5C3DA4"/>
              </a:solidFill>
              <a:prstDash val="dash"/>
              <a:round/>
              <a:headEnd type="diamond" w="med" len="med"/>
              <a:tailEnd type="diamond" w="med" len="med"/>
            </a:ln>
          </p:spPr>
        </p:cxnSp>
        <p:grpSp>
          <p:nvGrpSpPr>
            <p:cNvPr id="111" name="Google Shape;231;p31">
              <a:extLst>
                <a:ext uri="{FF2B5EF4-FFF2-40B4-BE49-F238E27FC236}">
                  <a16:creationId xmlns:a16="http://schemas.microsoft.com/office/drawing/2014/main" id="{C8750555-3037-DDBD-BA56-8C6515041A76}"/>
                </a:ext>
              </a:extLst>
            </p:cNvPr>
            <p:cNvGrpSpPr/>
            <p:nvPr/>
          </p:nvGrpSpPr>
          <p:grpSpPr>
            <a:xfrm>
              <a:off x="5381615" y="4368699"/>
              <a:ext cx="543457" cy="508555"/>
              <a:chOff x="2766264" y="3394042"/>
              <a:chExt cx="294874" cy="275934"/>
            </a:xfrm>
          </p:grpSpPr>
          <p:sp>
            <p:nvSpPr>
              <p:cNvPr id="112" name="Google Shape;232;p31">
                <a:extLst>
                  <a:ext uri="{FF2B5EF4-FFF2-40B4-BE49-F238E27FC236}">
                    <a16:creationId xmlns:a16="http://schemas.microsoft.com/office/drawing/2014/main" id="{0D0777D3-A632-31D2-DB95-767258CE37AF}"/>
                  </a:ext>
                </a:extLst>
              </p:cNvPr>
              <p:cNvSpPr/>
              <p:nvPr/>
            </p:nvSpPr>
            <p:spPr>
              <a:xfrm>
                <a:off x="3020554" y="3570348"/>
                <a:ext cx="19353" cy="18621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85" extrusionOk="0">
                    <a:moveTo>
                      <a:pt x="155" y="1"/>
                    </a:moveTo>
                    <a:cubicBezTo>
                      <a:pt x="123" y="1"/>
                      <a:pt x="90" y="16"/>
                      <a:pt x="60" y="46"/>
                    </a:cubicBezTo>
                    <a:cubicBezTo>
                      <a:pt x="1" y="105"/>
                      <a:pt x="1" y="176"/>
                      <a:pt x="60" y="236"/>
                    </a:cubicBezTo>
                    <a:lnTo>
                      <a:pt x="370" y="546"/>
                    </a:lnTo>
                    <a:cubicBezTo>
                      <a:pt x="397" y="572"/>
                      <a:pt x="431" y="585"/>
                      <a:pt x="463" y="585"/>
                    </a:cubicBezTo>
                    <a:cubicBezTo>
                      <a:pt x="503" y="585"/>
                      <a:pt x="541" y="566"/>
                      <a:pt x="560" y="534"/>
                    </a:cubicBezTo>
                    <a:cubicBezTo>
                      <a:pt x="608" y="498"/>
                      <a:pt x="608" y="403"/>
                      <a:pt x="560" y="355"/>
                    </a:cubicBezTo>
                    <a:lnTo>
                      <a:pt x="251" y="46"/>
                    </a:lnTo>
                    <a:cubicBezTo>
                      <a:pt x="221" y="16"/>
                      <a:pt x="188" y="1"/>
                      <a:pt x="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33;p31">
                <a:extLst>
                  <a:ext uri="{FF2B5EF4-FFF2-40B4-BE49-F238E27FC236}">
                    <a16:creationId xmlns:a16="http://schemas.microsoft.com/office/drawing/2014/main" id="{6D1F9897-A10D-FCBF-F741-96D7E8F91644}"/>
                  </a:ext>
                </a:extLst>
              </p:cNvPr>
              <p:cNvSpPr/>
              <p:nvPr/>
            </p:nvSpPr>
            <p:spPr>
              <a:xfrm>
                <a:off x="3019408" y="3475622"/>
                <a:ext cx="20499" cy="1887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593" extrusionOk="0">
                    <a:moveTo>
                      <a:pt x="501" y="0"/>
                    </a:moveTo>
                    <a:cubicBezTo>
                      <a:pt x="468" y="0"/>
                      <a:pt x="436" y="15"/>
                      <a:pt x="406" y="45"/>
                    </a:cubicBezTo>
                    <a:lnTo>
                      <a:pt x="96" y="355"/>
                    </a:lnTo>
                    <a:cubicBezTo>
                      <a:pt x="1" y="450"/>
                      <a:pt x="61" y="593"/>
                      <a:pt x="180" y="593"/>
                    </a:cubicBezTo>
                    <a:cubicBezTo>
                      <a:pt x="215" y="593"/>
                      <a:pt x="263" y="581"/>
                      <a:pt x="275" y="557"/>
                    </a:cubicBezTo>
                    <a:lnTo>
                      <a:pt x="584" y="235"/>
                    </a:lnTo>
                    <a:cubicBezTo>
                      <a:pt x="644" y="200"/>
                      <a:pt x="644" y="104"/>
                      <a:pt x="596" y="45"/>
                    </a:cubicBezTo>
                    <a:cubicBezTo>
                      <a:pt x="567" y="15"/>
                      <a:pt x="534" y="0"/>
                      <a:pt x="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34;p31">
                <a:extLst>
                  <a:ext uri="{FF2B5EF4-FFF2-40B4-BE49-F238E27FC236}">
                    <a16:creationId xmlns:a16="http://schemas.microsoft.com/office/drawing/2014/main" id="{646A1484-0DB9-7A80-B0BA-AFD8613788C3}"/>
                  </a:ext>
                </a:extLst>
              </p:cNvPr>
              <p:cNvSpPr/>
              <p:nvPr/>
            </p:nvSpPr>
            <p:spPr>
              <a:xfrm>
                <a:off x="3039143" y="3528205"/>
                <a:ext cx="21995" cy="875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75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31"/>
                    </a:cubicBezTo>
                    <a:cubicBezTo>
                      <a:pt x="0" y="215"/>
                      <a:pt x="60" y="274"/>
                      <a:pt x="131" y="274"/>
                    </a:cubicBezTo>
                    <a:lnTo>
                      <a:pt x="560" y="274"/>
                    </a:lnTo>
                    <a:cubicBezTo>
                      <a:pt x="631" y="274"/>
                      <a:pt x="691" y="215"/>
                      <a:pt x="691" y="131"/>
                    </a:cubicBezTo>
                    <a:cubicBezTo>
                      <a:pt x="691" y="60"/>
                      <a:pt x="631" y="0"/>
                      <a:pt x="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35;p31">
                <a:extLst>
                  <a:ext uri="{FF2B5EF4-FFF2-40B4-BE49-F238E27FC236}">
                    <a16:creationId xmlns:a16="http://schemas.microsoft.com/office/drawing/2014/main" id="{94C03010-1B0B-A783-1CAD-885F9BCFBDA9}"/>
                  </a:ext>
                </a:extLst>
              </p:cNvPr>
              <p:cNvSpPr/>
              <p:nvPr/>
            </p:nvSpPr>
            <p:spPr>
              <a:xfrm>
                <a:off x="2766264" y="3394042"/>
                <a:ext cx="253176" cy="275934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8669" extrusionOk="0">
                    <a:moveTo>
                      <a:pt x="6942" y="3489"/>
                    </a:moveTo>
                    <a:cubicBezTo>
                      <a:pt x="7371" y="3549"/>
                      <a:pt x="7692" y="3918"/>
                      <a:pt x="7692" y="4346"/>
                    </a:cubicBezTo>
                    <a:cubicBezTo>
                      <a:pt x="7692" y="4799"/>
                      <a:pt x="7382" y="5156"/>
                      <a:pt x="6942" y="5227"/>
                    </a:cubicBezTo>
                    <a:lnTo>
                      <a:pt x="6942" y="3489"/>
                    </a:lnTo>
                    <a:close/>
                    <a:moveTo>
                      <a:pt x="1013" y="3322"/>
                    </a:moveTo>
                    <a:lnTo>
                      <a:pt x="1013" y="5382"/>
                    </a:lnTo>
                    <a:lnTo>
                      <a:pt x="715" y="5382"/>
                    </a:lnTo>
                    <a:cubicBezTo>
                      <a:pt x="465" y="5382"/>
                      <a:pt x="263" y="5180"/>
                      <a:pt x="263" y="4930"/>
                    </a:cubicBezTo>
                    <a:lnTo>
                      <a:pt x="263" y="3775"/>
                    </a:lnTo>
                    <a:cubicBezTo>
                      <a:pt x="263" y="3537"/>
                      <a:pt x="453" y="3322"/>
                      <a:pt x="715" y="3322"/>
                    </a:cubicBezTo>
                    <a:close/>
                    <a:moveTo>
                      <a:pt x="2179" y="3322"/>
                    </a:moveTo>
                    <a:lnTo>
                      <a:pt x="2179" y="5382"/>
                    </a:lnTo>
                    <a:lnTo>
                      <a:pt x="1286" y="5382"/>
                    </a:lnTo>
                    <a:lnTo>
                      <a:pt x="1286" y="3322"/>
                    </a:lnTo>
                    <a:close/>
                    <a:moveTo>
                      <a:pt x="2322" y="6370"/>
                    </a:moveTo>
                    <a:lnTo>
                      <a:pt x="2322" y="6966"/>
                    </a:lnTo>
                    <a:lnTo>
                      <a:pt x="2060" y="6966"/>
                    </a:lnTo>
                    <a:lnTo>
                      <a:pt x="2227" y="6370"/>
                    </a:lnTo>
                    <a:close/>
                    <a:moveTo>
                      <a:pt x="2144" y="5644"/>
                    </a:moveTo>
                    <a:lnTo>
                      <a:pt x="1632" y="7549"/>
                    </a:lnTo>
                    <a:lnTo>
                      <a:pt x="1286" y="7549"/>
                    </a:lnTo>
                    <a:lnTo>
                      <a:pt x="1286" y="5644"/>
                    </a:lnTo>
                    <a:close/>
                    <a:moveTo>
                      <a:pt x="6680" y="274"/>
                    </a:moveTo>
                    <a:lnTo>
                      <a:pt x="6680" y="8430"/>
                    </a:lnTo>
                    <a:lnTo>
                      <a:pt x="6085" y="8430"/>
                    </a:lnTo>
                    <a:lnTo>
                      <a:pt x="6085" y="2703"/>
                    </a:lnTo>
                    <a:cubicBezTo>
                      <a:pt x="6085" y="2620"/>
                      <a:pt x="6025" y="2560"/>
                      <a:pt x="5954" y="2560"/>
                    </a:cubicBezTo>
                    <a:cubicBezTo>
                      <a:pt x="5870" y="2560"/>
                      <a:pt x="5811" y="2620"/>
                      <a:pt x="5811" y="2703"/>
                    </a:cubicBezTo>
                    <a:lnTo>
                      <a:pt x="5811" y="7549"/>
                    </a:lnTo>
                    <a:cubicBezTo>
                      <a:pt x="5632" y="7311"/>
                      <a:pt x="5382" y="6989"/>
                      <a:pt x="5037" y="6668"/>
                    </a:cubicBezTo>
                    <a:cubicBezTo>
                      <a:pt x="4668" y="6299"/>
                      <a:pt x="4263" y="6013"/>
                      <a:pt x="3870" y="5799"/>
                    </a:cubicBezTo>
                    <a:cubicBezTo>
                      <a:pt x="3406" y="5561"/>
                      <a:pt x="2930" y="5418"/>
                      <a:pt x="2453" y="5394"/>
                    </a:cubicBezTo>
                    <a:lnTo>
                      <a:pt x="2453" y="3322"/>
                    </a:lnTo>
                    <a:cubicBezTo>
                      <a:pt x="2930" y="3310"/>
                      <a:pt x="3406" y="3179"/>
                      <a:pt x="3870" y="2918"/>
                    </a:cubicBezTo>
                    <a:cubicBezTo>
                      <a:pt x="4263" y="2715"/>
                      <a:pt x="4668" y="2417"/>
                      <a:pt x="5037" y="2048"/>
                    </a:cubicBezTo>
                    <a:cubicBezTo>
                      <a:pt x="5370" y="1715"/>
                      <a:pt x="5632" y="1394"/>
                      <a:pt x="5811" y="1167"/>
                    </a:cubicBezTo>
                    <a:lnTo>
                      <a:pt x="5811" y="2025"/>
                    </a:lnTo>
                    <a:cubicBezTo>
                      <a:pt x="5811" y="2108"/>
                      <a:pt x="5870" y="2167"/>
                      <a:pt x="5954" y="2167"/>
                    </a:cubicBezTo>
                    <a:cubicBezTo>
                      <a:pt x="6025" y="2167"/>
                      <a:pt x="6085" y="2108"/>
                      <a:pt x="6085" y="2025"/>
                    </a:cubicBezTo>
                    <a:lnTo>
                      <a:pt x="6085" y="274"/>
                    </a:lnTo>
                    <a:close/>
                    <a:moveTo>
                      <a:pt x="5930" y="0"/>
                    </a:moveTo>
                    <a:cubicBezTo>
                      <a:pt x="5858" y="0"/>
                      <a:pt x="5799" y="60"/>
                      <a:pt x="5799" y="143"/>
                    </a:cubicBezTo>
                    <a:lnTo>
                      <a:pt x="5799" y="679"/>
                    </a:lnTo>
                    <a:cubicBezTo>
                      <a:pt x="5728" y="810"/>
                      <a:pt x="5370" y="1334"/>
                      <a:pt x="4835" y="1846"/>
                    </a:cubicBezTo>
                    <a:cubicBezTo>
                      <a:pt x="4263" y="2382"/>
                      <a:pt x="3370" y="3037"/>
                      <a:pt x="2299" y="3037"/>
                    </a:cubicBezTo>
                    <a:lnTo>
                      <a:pt x="715" y="3037"/>
                    </a:lnTo>
                    <a:cubicBezTo>
                      <a:pt x="310" y="3037"/>
                      <a:pt x="1" y="3370"/>
                      <a:pt x="1" y="3751"/>
                    </a:cubicBezTo>
                    <a:lnTo>
                      <a:pt x="1" y="4918"/>
                    </a:lnTo>
                    <a:cubicBezTo>
                      <a:pt x="1" y="5323"/>
                      <a:pt x="322" y="5632"/>
                      <a:pt x="715" y="5632"/>
                    </a:cubicBezTo>
                    <a:lnTo>
                      <a:pt x="1013" y="5632"/>
                    </a:lnTo>
                    <a:lnTo>
                      <a:pt x="1013" y="7668"/>
                    </a:lnTo>
                    <a:cubicBezTo>
                      <a:pt x="1013" y="7740"/>
                      <a:pt x="1072" y="7799"/>
                      <a:pt x="1144" y="7799"/>
                    </a:cubicBezTo>
                    <a:lnTo>
                      <a:pt x="1727" y="7799"/>
                    </a:lnTo>
                    <a:cubicBezTo>
                      <a:pt x="1787" y="7799"/>
                      <a:pt x="1846" y="7763"/>
                      <a:pt x="1858" y="7692"/>
                    </a:cubicBezTo>
                    <a:lnTo>
                      <a:pt x="1989" y="7216"/>
                    </a:lnTo>
                    <a:lnTo>
                      <a:pt x="2453" y="7216"/>
                    </a:lnTo>
                    <a:cubicBezTo>
                      <a:pt x="2525" y="7216"/>
                      <a:pt x="2584" y="7156"/>
                      <a:pt x="2584" y="7085"/>
                    </a:cubicBezTo>
                    <a:lnTo>
                      <a:pt x="2584" y="6204"/>
                    </a:lnTo>
                    <a:cubicBezTo>
                      <a:pt x="2584" y="6132"/>
                      <a:pt x="2525" y="6073"/>
                      <a:pt x="2453" y="6073"/>
                    </a:cubicBezTo>
                    <a:lnTo>
                      <a:pt x="2287" y="6073"/>
                    </a:lnTo>
                    <a:lnTo>
                      <a:pt x="2406" y="5632"/>
                    </a:lnTo>
                    <a:cubicBezTo>
                      <a:pt x="3430" y="5668"/>
                      <a:pt x="4299" y="6299"/>
                      <a:pt x="4835" y="6823"/>
                    </a:cubicBezTo>
                    <a:cubicBezTo>
                      <a:pt x="5370" y="7335"/>
                      <a:pt x="5704" y="7859"/>
                      <a:pt x="5799" y="7990"/>
                    </a:cubicBezTo>
                    <a:lnTo>
                      <a:pt x="5799" y="8525"/>
                    </a:lnTo>
                    <a:cubicBezTo>
                      <a:pt x="5799" y="8609"/>
                      <a:pt x="5858" y="8668"/>
                      <a:pt x="5930" y="8668"/>
                    </a:cubicBezTo>
                    <a:lnTo>
                      <a:pt x="6811" y="8668"/>
                    </a:lnTo>
                    <a:cubicBezTo>
                      <a:pt x="6882" y="8668"/>
                      <a:pt x="6942" y="8609"/>
                      <a:pt x="6942" y="8525"/>
                    </a:cubicBezTo>
                    <a:lnTo>
                      <a:pt x="6942" y="5465"/>
                    </a:lnTo>
                    <a:cubicBezTo>
                      <a:pt x="7525" y="5394"/>
                      <a:pt x="7954" y="4918"/>
                      <a:pt x="7954" y="4322"/>
                    </a:cubicBezTo>
                    <a:cubicBezTo>
                      <a:pt x="7954" y="3775"/>
                      <a:pt x="7525" y="3275"/>
                      <a:pt x="6942" y="3203"/>
                    </a:cubicBezTo>
                    <a:lnTo>
                      <a:pt x="6942" y="143"/>
                    </a:lnTo>
                    <a:cubicBezTo>
                      <a:pt x="6942" y="60"/>
                      <a:pt x="6882" y="0"/>
                      <a:pt x="68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6F0AD1-2C47-822A-02D6-3322E2001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69220" y="2300748"/>
            <a:ext cx="3518443" cy="181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FA091-1391-2A43-BDD8-6469D9EC4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445C34-F968-EC14-4EB4-B99A2378E276}"/>
              </a:ext>
            </a:extLst>
          </p:cNvPr>
          <p:cNvSpPr txBox="1"/>
          <p:nvPr/>
        </p:nvSpPr>
        <p:spPr>
          <a:xfrm>
            <a:off x="106104" y="1005201"/>
            <a:ext cx="850392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5400" b="1">
                <a:solidFill>
                  <a:srgbClr val="6366F1"/>
                </a:solidFill>
                <a:latin typeface="Segoe UI"/>
              </a:defRPr>
            </a:pPr>
            <a:r>
              <a:rPr lang="fr-FR" sz="7200" b="1" cap="all">
                <a:solidFill>
                  <a:srgbClr val="844DF4"/>
                </a:solidFill>
              </a:rPr>
              <a:t>Projet Web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C82D2-9A5E-1899-3764-F2E9B56B286A}"/>
              </a:ext>
            </a:extLst>
          </p:cNvPr>
          <p:cNvSpPr txBox="1"/>
          <p:nvPr/>
        </p:nvSpPr>
        <p:spPr>
          <a:xfrm>
            <a:off x="957503" y="4561885"/>
            <a:ext cx="666608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>
                    <a:lumMod val="95000"/>
                  </a:schemeClr>
                </a:solidFill>
              </a:rPr>
              <a:t>Plateforme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 web de gestion de stages — Recherche </a:t>
            </a:r>
            <a:r>
              <a:rPr err="1">
                <a:solidFill>
                  <a:schemeClr val="bg1">
                    <a:lumMod val="95000"/>
                  </a:schemeClr>
                </a:solidFill>
              </a:rPr>
              <a:t>d'offres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,</a:t>
            </a:r>
            <a:br>
              <a:rPr>
                <a:solidFill>
                  <a:schemeClr val="bg1">
                    <a:lumMod val="95000"/>
                  </a:schemeClr>
                </a:solidFill>
              </a:rPr>
            </a:br>
            <a:r>
              <a:rPr>
                <a:solidFill>
                  <a:schemeClr val="bg1">
                    <a:lumMod val="95000"/>
                  </a:schemeClr>
                </a:solidFill>
              </a:rPr>
              <a:t>candidatures, </a:t>
            </a:r>
            <a:r>
              <a:rPr err="1">
                <a:solidFill>
                  <a:schemeClr val="bg1">
                    <a:lumMod val="95000"/>
                  </a:schemeClr>
                </a:solidFill>
              </a:rPr>
              <a:t>suivi</a:t>
            </a:r>
            <a:r>
              <a:rPr>
                <a:solidFill>
                  <a:schemeClr val="bg1">
                    <a:lumMod val="95000"/>
                  </a:schemeClr>
                </a:solidFill>
              </a:rPr>
              <a:t> et administration pour le CESI.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ED0A272A-4D58-4854-8BE8-1CFA00397FF6}"/>
              </a:ext>
            </a:extLst>
          </p:cNvPr>
          <p:cNvSpPr txBox="1"/>
          <p:nvPr/>
        </p:nvSpPr>
        <p:spPr>
          <a:xfrm>
            <a:off x="294968" y="5804965"/>
            <a:ext cx="2239888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Saleh	 HOSSEINE</a:t>
            </a:r>
          </a:p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Mohamed EL MORABITI</a:t>
            </a:r>
          </a:p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Ahmed GHEMARI</a:t>
            </a:r>
            <a:endParaRPr sz="14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E4E561D2-7425-FB51-73E3-05080B36E6B9}"/>
              </a:ext>
            </a:extLst>
          </p:cNvPr>
          <p:cNvSpPr txBox="1"/>
          <p:nvPr/>
        </p:nvSpPr>
        <p:spPr>
          <a:xfrm>
            <a:off x="10416296" y="6526284"/>
            <a:ext cx="1768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 sz="1400">
                <a:solidFill>
                  <a:schemeClr val="bg1">
                    <a:lumMod val="95000"/>
                  </a:schemeClr>
                </a:solidFill>
              </a:rPr>
              <a:t>01/04/2026</a:t>
            </a:r>
            <a:endParaRPr sz="140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95" name="Google Shape;209;p31">
            <a:extLst>
              <a:ext uri="{FF2B5EF4-FFF2-40B4-BE49-F238E27FC236}">
                <a16:creationId xmlns:a16="http://schemas.microsoft.com/office/drawing/2014/main" id="{1C69DAC6-31C8-EC8E-E62B-35549353EB53}"/>
              </a:ext>
            </a:extLst>
          </p:cNvPr>
          <p:cNvGrpSpPr/>
          <p:nvPr/>
        </p:nvGrpSpPr>
        <p:grpSpPr>
          <a:xfrm>
            <a:off x="7598199" y="577142"/>
            <a:ext cx="4429218" cy="5597155"/>
            <a:chOff x="5216629" y="1454784"/>
            <a:chExt cx="3261589" cy="3948432"/>
          </a:xfrm>
        </p:grpSpPr>
        <p:sp>
          <p:nvSpPr>
            <p:cNvPr id="96" name="Google Shape;210;p31">
              <a:extLst>
                <a:ext uri="{FF2B5EF4-FFF2-40B4-BE49-F238E27FC236}">
                  <a16:creationId xmlns:a16="http://schemas.microsoft.com/office/drawing/2014/main" id="{B5EDE26C-2210-9F77-7DF6-85070B228CE8}"/>
                </a:ext>
              </a:extLst>
            </p:cNvPr>
            <p:cNvSpPr/>
            <p:nvPr/>
          </p:nvSpPr>
          <p:spPr>
            <a:xfrm>
              <a:off x="5665463" y="1455858"/>
              <a:ext cx="2222345" cy="3947358"/>
            </a:xfrm>
            <a:custGeom>
              <a:avLst/>
              <a:gdLst/>
              <a:ahLst/>
              <a:cxnLst/>
              <a:rect l="l" t="t" r="r" b="b"/>
              <a:pathLst>
                <a:path w="62068" h="110246" extrusionOk="0">
                  <a:moveTo>
                    <a:pt x="53430" y="1"/>
                  </a:moveTo>
                  <a:cubicBezTo>
                    <a:pt x="53412" y="1"/>
                    <a:pt x="53393" y="1"/>
                    <a:pt x="53375" y="1"/>
                  </a:cubicBezTo>
                  <a:lnTo>
                    <a:pt x="8693" y="62"/>
                  </a:lnTo>
                  <a:cubicBezTo>
                    <a:pt x="3921" y="62"/>
                    <a:pt x="0" y="3983"/>
                    <a:pt x="0" y="8755"/>
                  </a:cubicBezTo>
                  <a:lnTo>
                    <a:pt x="152" y="101735"/>
                  </a:lnTo>
                  <a:cubicBezTo>
                    <a:pt x="152" y="106416"/>
                    <a:pt x="4043" y="110246"/>
                    <a:pt x="8784" y="110246"/>
                  </a:cubicBezTo>
                  <a:lnTo>
                    <a:pt x="52949" y="110185"/>
                  </a:lnTo>
                  <a:cubicBezTo>
                    <a:pt x="57691" y="110185"/>
                    <a:pt x="61582" y="106324"/>
                    <a:pt x="61612" y="101644"/>
                  </a:cubicBezTo>
                  <a:lnTo>
                    <a:pt x="62038" y="8663"/>
                  </a:lnTo>
                  <a:cubicBezTo>
                    <a:pt x="62068" y="3910"/>
                    <a:pt x="58177" y="1"/>
                    <a:pt x="5343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11;p31">
              <a:extLst>
                <a:ext uri="{FF2B5EF4-FFF2-40B4-BE49-F238E27FC236}">
                  <a16:creationId xmlns:a16="http://schemas.microsoft.com/office/drawing/2014/main" id="{C50401D2-D6E5-D116-F1EA-5CDA37ACB8FD}"/>
                </a:ext>
              </a:extLst>
            </p:cNvPr>
            <p:cNvSpPr/>
            <p:nvPr/>
          </p:nvSpPr>
          <p:spPr>
            <a:xfrm>
              <a:off x="5665463" y="1455858"/>
              <a:ext cx="2222345" cy="3947358"/>
            </a:xfrm>
            <a:custGeom>
              <a:avLst/>
              <a:gdLst/>
              <a:ahLst/>
              <a:cxnLst/>
              <a:rect l="l" t="t" r="r" b="b"/>
              <a:pathLst>
                <a:path w="62068" h="110246" extrusionOk="0">
                  <a:moveTo>
                    <a:pt x="53430" y="1"/>
                  </a:moveTo>
                  <a:cubicBezTo>
                    <a:pt x="53412" y="1"/>
                    <a:pt x="53393" y="1"/>
                    <a:pt x="53375" y="1"/>
                  </a:cubicBezTo>
                  <a:lnTo>
                    <a:pt x="8693" y="62"/>
                  </a:lnTo>
                  <a:cubicBezTo>
                    <a:pt x="3921" y="62"/>
                    <a:pt x="0" y="3983"/>
                    <a:pt x="0" y="8755"/>
                  </a:cubicBezTo>
                  <a:lnTo>
                    <a:pt x="152" y="101735"/>
                  </a:lnTo>
                  <a:cubicBezTo>
                    <a:pt x="152" y="106416"/>
                    <a:pt x="4043" y="110246"/>
                    <a:pt x="8784" y="110246"/>
                  </a:cubicBezTo>
                  <a:lnTo>
                    <a:pt x="52949" y="110185"/>
                  </a:lnTo>
                  <a:cubicBezTo>
                    <a:pt x="57691" y="110185"/>
                    <a:pt x="61582" y="106324"/>
                    <a:pt x="61612" y="101644"/>
                  </a:cubicBezTo>
                  <a:lnTo>
                    <a:pt x="62038" y="8663"/>
                  </a:lnTo>
                  <a:cubicBezTo>
                    <a:pt x="62068" y="3910"/>
                    <a:pt x="58177" y="1"/>
                    <a:pt x="53430" y="1"/>
                  </a:cubicBezTo>
                  <a:close/>
                </a:path>
              </a:pathLst>
            </a:custGeom>
            <a:solidFill>
              <a:srgbClr val="B0A2F4">
                <a:alpha val="50196"/>
              </a:srgbClr>
            </a:solidFill>
            <a:ln>
              <a:solidFill>
                <a:schemeClr val="bg1"/>
              </a:solidFill>
            </a:ln>
            <a:effectLst>
              <a:outerShdw blurRad="85725" dist="95250" dir="2820000" algn="bl" rotWithShape="0">
                <a:srgbClr val="CCCCCC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7200">
                  <a:solidFill>
                    <a:srgbClr val="9284D6"/>
                  </a:solidFill>
                  <a:latin typeface="Arial Black" panose="020B0A04020102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WEB</a:t>
              </a:r>
              <a:endParaRPr sz="7200">
                <a:solidFill>
                  <a:srgbClr val="9284D6"/>
                </a:solidFill>
                <a:latin typeface="Arial Black" panose="020B0A04020102020204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98" name="Google Shape;212;p31">
              <a:extLst>
                <a:ext uri="{FF2B5EF4-FFF2-40B4-BE49-F238E27FC236}">
                  <a16:creationId xmlns:a16="http://schemas.microsoft.com/office/drawing/2014/main" id="{C50DC64F-1DB8-4BE8-7A8D-C1A8AD1CABB3}"/>
                </a:ext>
              </a:extLst>
            </p:cNvPr>
            <p:cNvSpPr/>
            <p:nvPr/>
          </p:nvSpPr>
          <p:spPr>
            <a:xfrm>
              <a:off x="5665463" y="1454784"/>
              <a:ext cx="2222381" cy="3948432"/>
            </a:xfrm>
            <a:custGeom>
              <a:avLst/>
              <a:gdLst/>
              <a:ahLst/>
              <a:cxnLst/>
              <a:rect l="l" t="t" r="r" b="b"/>
              <a:pathLst>
                <a:path w="62069" h="110276" fill="none" extrusionOk="0">
                  <a:moveTo>
                    <a:pt x="52949" y="110215"/>
                  </a:moveTo>
                  <a:lnTo>
                    <a:pt x="8784" y="110276"/>
                  </a:lnTo>
                  <a:cubicBezTo>
                    <a:pt x="4043" y="110276"/>
                    <a:pt x="152" y="106446"/>
                    <a:pt x="152" y="101765"/>
                  </a:cubicBezTo>
                  <a:lnTo>
                    <a:pt x="0" y="8785"/>
                  </a:lnTo>
                  <a:cubicBezTo>
                    <a:pt x="0" y="4013"/>
                    <a:pt x="3921" y="92"/>
                    <a:pt x="8693" y="92"/>
                  </a:cubicBezTo>
                  <a:lnTo>
                    <a:pt x="53375" y="31"/>
                  </a:lnTo>
                  <a:cubicBezTo>
                    <a:pt x="58147" y="0"/>
                    <a:pt x="62068" y="3921"/>
                    <a:pt x="62038" y="8693"/>
                  </a:cubicBezTo>
                  <a:lnTo>
                    <a:pt x="61612" y="101674"/>
                  </a:lnTo>
                  <a:cubicBezTo>
                    <a:pt x="61582" y="106354"/>
                    <a:pt x="57691" y="110215"/>
                    <a:pt x="52949" y="110215"/>
                  </a:cubicBezTo>
                  <a:close/>
                </a:path>
              </a:pathLst>
            </a:custGeom>
            <a:noFill/>
            <a:ln w="2275" cap="flat" cmpd="sng">
              <a:solidFill>
                <a:srgbClr val="FFFFFF"/>
              </a:solidFill>
              <a:prstDash val="solid"/>
              <a:miter lim="30395"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15;p31">
              <a:extLst>
                <a:ext uri="{FF2B5EF4-FFF2-40B4-BE49-F238E27FC236}">
                  <a16:creationId xmlns:a16="http://schemas.microsoft.com/office/drawing/2014/main" id="{63D024CD-8271-995E-69F3-46FB302E9270}"/>
                </a:ext>
              </a:extLst>
            </p:cNvPr>
            <p:cNvSpPr/>
            <p:nvPr/>
          </p:nvSpPr>
          <p:spPr>
            <a:xfrm>
              <a:off x="5765575" y="1550563"/>
              <a:ext cx="2022123" cy="3743807"/>
            </a:xfrm>
            <a:custGeom>
              <a:avLst/>
              <a:gdLst/>
              <a:ahLst/>
              <a:cxnLst/>
              <a:rect l="l" t="t" r="r" b="b"/>
              <a:pathLst>
                <a:path w="56476" h="104561" fill="none" extrusionOk="0">
                  <a:moveTo>
                    <a:pt x="48178" y="104500"/>
                  </a:moveTo>
                  <a:lnTo>
                    <a:pt x="7964" y="104561"/>
                  </a:lnTo>
                  <a:cubicBezTo>
                    <a:pt x="3678" y="104561"/>
                    <a:pt x="122" y="101065"/>
                    <a:pt x="122" y="96810"/>
                  </a:cubicBezTo>
                  <a:lnTo>
                    <a:pt x="0" y="7994"/>
                  </a:lnTo>
                  <a:cubicBezTo>
                    <a:pt x="0" y="3648"/>
                    <a:pt x="3557" y="91"/>
                    <a:pt x="7903" y="61"/>
                  </a:cubicBezTo>
                  <a:lnTo>
                    <a:pt x="48573" y="0"/>
                  </a:lnTo>
                  <a:cubicBezTo>
                    <a:pt x="52919" y="0"/>
                    <a:pt x="56476" y="3556"/>
                    <a:pt x="56476" y="7933"/>
                  </a:cubicBezTo>
                  <a:lnTo>
                    <a:pt x="56050" y="96719"/>
                  </a:lnTo>
                  <a:cubicBezTo>
                    <a:pt x="56050" y="101005"/>
                    <a:pt x="52494" y="104500"/>
                    <a:pt x="48178" y="104500"/>
                  </a:cubicBezTo>
                  <a:close/>
                </a:path>
              </a:pathLst>
            </a:custGeom>
            <a:noFill/>
            <a:ln w="9525" cap="rnd" cmpd="sng">
              <a:solidFill>
                <a:srgbClr val="B24E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18;p31">
              <a:extLst>
                <a:ext uri="{FF2B5EF4-FFF2-40B4-BE49-F238E27FC236}">
                  <a16:creationId xmlns:a16="http://schemas.microsoft.com/office/drawing/2014/main" id="{CBCFE611-77D8-992F-CA83-C9B21BB98F1F}"/>
                </a:ext>
              </a:extLst>
            </p:cNvPr>
            <p:cNvSpPr/>
            <p:nvPr/>
          </p:nvSpPr>
          <p:spPr>
            <a:xfrm>
              <a:off x="5985420" y="1811764"/>
              <a:ext cx="118658" cy="111031"/>
            </a:xfrm>
            <a:custGeom>
              <a:avLst/>
              <a:gdLst/>
              <a:ahLst/>
              <a:cxnLst/>
              <a:rect l="l" t="t" r="r" b="b"/>
              <a:pathLst>
                <a:path w="3314" h="3101" fill="none" extrusionOk="0">
                  <a:moveTo>
                    <a:pt x="2371" y="0"/>
                  </a:moveTo>
                  <a:cubicBezTo>
                    <a:pt x="2918" y="274"/>
                    <a:pt x="3314" y="882"/>
                    <a:pt x="3253" y="1550"/>
                  </a:cubicBezTo>
                  <a:cubicBezTo>
                    <a:pt x="3222" y="2432"/>
                    <a:pt x="2462" y="3100"/>
                    <a:pt x="1581" y="3040"/>
                  </a:cubicBezTo>
                  <a:cubicBezTo>
                    <a:pt x="699" y="3009"/>
                    <a:pt x="0" y="2249"/>
                    <a:pt x="61" y="1368"/>
                  </a:cubicBezTo>
                  <a:cubicBezTo>
                    <a:pt x="92" y="790"/>
                    <a:pt x="426" y="274"/>
                    <a:pt x="912" y="31"/>
                  </a:cubicBez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19;p31">
              <a:extLst>
                <a:ext uri="{FF2B5EF4-FFF2-40B4-BE49-F238E27FC236}">
                  <a16:creationId xmlns:a16="http://schemas.microsoft.com/office/drawing/2014/main" id="{F6F01108-86DA-5D9C-3C56-CC58C6CDCDD2}"/>
                </a:ext>
              </a:extLst>
            </p:cNvPr>
            <p:cNvSpPr/>
            <p:nvPr/>
          </p:nvSpPr>
          <p:spPr>
            <a:xfrm>
              <a:off x="6044177" y="1776925"/>
              <a:ext cx="36" cy="71861"/>
            </a:xfrm>
            <a:custGeom>
              <a:avLst/>
              <a:gdLst/>
              <a:ahLst/>
              <a:cxnLst/>
              <a:rect l="l" t="t" r="r" b="b"/>
              <a:pathLst>
                <a:path w="1" h="2007" fill="none" extrusionOk="0">
                  <a:moveTo>
                    <a:pt x="1" y="2007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20;p31">
              <a:extLst>
                <a:ext uri="{FF2B5EF4-FFF2-40B4-BE49-F238E27FC236}">
                  <a16:creationId xmlns:a16="http://schemas.microsoft.com/office/drawing/2014/main" id="{E8206FC4-4668-5CF7-E89E-153BAD81CB5C}"/>
                </a:ext>
              </a:extLst>
            </p:cNvPr>
            <p:cNvSpPr/>
            <p:nvPr/>
          </p:nvSpPr>
          <p:spPr>
            <a:xfrm>
              <a:off x="7604918" y="1878384"/>
              <a:ext cx="873300" cy="873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B24EBE"/>
                </a:gs>
                <a:gs pos="89000">
                  <a:srgbClr val="01539D"/>
                </a:gs>
                <a:gs pos="100000">
                  <a:srgbClr val="5C3DA4"/>
                </a:gs>
              </a:gsLst>
              <a:lin ang="8100019" scaled="0"/>
            </a:gra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21;p31">
              <a:extLst>
                <a:ext uri="{FF2B5EF4-FFF2-40B4-BE49-F238E27FC236}">
                  <a16:creationId xmlns:a16="http://schemas.microsoft.com/office/drawing/2014/main" id="{CD2E091F-083F-8899-8546-C2446E90611B}"/>
                </a:ext>
              </a:extLst>
            </p:cNvPr>
            <p:cNvSpPr/>
            <p:nvPr/>
          </p:nvSpPr>
          <p:spPr>
            <a:xfrm>
              <a:off x="5216629" y="4186232"/>
              <a:ext cx="873300" cy="8733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B24EBE"/>
                </a:gs>
                <a:gs pos="89000">
                  <a:srgbClr val="01539D"/>
                </a:gs>
                <a:gs pos="100000">
                  <a:srgbClr val="5C3DA4"/>
                </a:gs>
              </a:gsLst>
              <a:lin ang="8100019" scaled="0"/>
            </a:gra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" name="Google Shape;222;p31">
              <a:extLst>
                <a:ext uri="{FF2B5EF4-FFF2-40B4-BE49-F238E27FC236}">
                  <a16:creationId xmlns:a16="http://schemas.microsoft.com/office/drawing/2014/main" id="{B6230987-73FD-ACF8-C39A-81BCDAE39255}"/>
                </a:ext>
              </a:extLst>
            </p:cNvPr>
            <p:cNvGrpSpPr/>
            <p:nvPr/>
          </p:nvGrpSpPr>
          <p:grpSpPr>
            <a:xfrm>
              <a:off x="7769840" y="2041871"/>
              <a:ext cx="543444" cy="546308"/>
              <a:chOff x="6069423" y="2891892"/>
              <a:chExt cx="362320" cy="364230"/>
            </a:xfrm>
          </p:grpSpPr>
          <p:sp>
            <p:nvSpPr>
              <p:cNvPr id="116" name="Google Shape;223;p31">
                <a:extLst>
                  <a:ext uri="{FF2B5EF4-FFF2-40B4-BE49-F238E27FC236}">
                    <a16:creationId xmlns:a16="http://schemas.microsoft.com/office/drawing/2014/main" id="{BD59BE81-9F19-4132-B527-B6637F210567}"/>
                  </a:ext>
                </a:extLst>
              </p:cNvPr>
              <p:cNvSpPr/>
              <p:nvPr/>
            </p:nvSpPr>
            <p:spPr>
              <a:xfrm>
                <a:off x="6069423" y="2891892"/>
                <a:ext cx="278958" cy="278958"/>
              </a:xfrm>
              <a:custGeom>
                <a:avLst/>
                <a:gdLst/>
                <a:ahLst/>
                <a:cxnLst/>
                <a:rect l="l" t="t" r="r" b="b"/>
                <a:pathLst>
                  <a:path w="8764" h="8764" extrusionOk="0">
                    <a:moveTo>
                      <a:pt x="4120" y="1"/>
                    </a:moveTo>
                    <a:cubicBezTo>
                      <a:pt x="3858" y="1"/>
                      <a:pt x="3632" y="203"/>
                      <a:pt x="3572" y="453"/>
                    </a:cubicBezTo>
                    <a:lnTo>
                      <a:pt x="3406" y="1299"/>
                    </a:lnTo>
                    <a:cubicBezTo>
                      <a:pt x="3227" y="1358"/>
                      <a:pt x="3060" y="1418"/>
                      <a:pt x="2906" y="1513"/>
                    </a:cubicBezTo>
                    <a:lnTo>
                      <a:pt x="2191" y="1037"/>
                    </a:lnTo>
                    <a:cubicBezTo>
                      <a:pt x="2096" y="971"/>
                      <a:pt x="1987" y="940"/>
                      <a:pt x="1879" y="940"/>
                    </a:cubicBezTo>
                    <a:cubicBezTo>
                      <a:pt x="1732" y="940"/>
                      <a:pt x="1587" y="998"/>
                      <a:pt x="1477" y="1108"/>
                    </a:cubicBezTo>
                    <a:lnTo>
                      <a:pt x="1096" y="1477"/>
                    </a:lnTo>
                    <a:cubicBezTo>
                      <a:pt x="905" y="1668"/>
                      <a:pt x="882" y="1965"/>
                      <a:pt x="1024" y="2191"/>
                    </a:cubicBezTo>
                    <a:lnTo>
                      <a:pt x="1501" y="2906"/>
                    </a:lnTo>
                    <a:cubicBezTo>
                      <a:pt x="1417" y="3073"/>
                      <a:pt x="1358" y="3239"/>
                      <a:pt x="1298" y="3406"/>
                    </a:cubicBezTo>
                    <a:lnTo>
                      <a:pt x="441" y="3573"/>
                    </a:lnTo>
                    <a:cubicBezTo>
                      <a:pt x="179" y="3632"/>
                      <a:pt x="0" y="3858"/>
                      <a:pt x="0" y="4132"/>
                    </a:cubicBezTo>
                    <a:lnTo>
                      <a:pt x="0" y="4644"/>
                    </a:lnTo>
                    <a:cubicBezTo>
                      <a:pt x="0" y="4918"/>
                      <a:pt x="191" y="5132"/>
                      <a:pt x="441" y="5204"/>
                    </a:cubicBezTo>
                    <a:lnTo>
                      <a:pt x="1298" y="5359"/>
                    </a:lnTo>
                    <a:cubicBezTo>
                      <a:pt x="1358" y="5537"/>
                      <a:pt x="1417" y="5704"/>
                      <a:pt x="1501" y="5871"/>
                    </a:cubicBezTo>
                    <a:lnTo>
                      <a:pt x="1024" y="6585"/>
                    </a:lnTo>
                    <a:cubicBezTo>
                      <a:pt x="882" y="6811"/>
                      <a:pt x="905" y="7109"/>
                      <a:pt x="1096" y="7299"/>
                    </a:cubicBezTo>
                    <a:lnTo>
                      <a:pt x="1477" y="7668"/>
                    </a:lnTo>
                    <a:cubicBezTo>
                      <a:pt x="1587" y="7778"/>
                      <a:pt x="1732" y="7837"/>
                      <a:pt x="1879" y="7837"/>
                    </a:cubicBezTo>
                    <a:cubicBezTo>
                      <a:pt x="1987" y="7837"/>
                      <a:pt x="2096" y="7805"/>
                      <a:pt x="2191" y="7740"/>
                    </a:cubicBezTo>
                    <a:lnTo>
                      <a:pt x="2906" y="7264"/>
                    </a:lnTo>
                    <a:cubicBezTo>
                      <a:pt x="3060" y="7359"/>
                      <a:pt x="3227" y="7418"/>
                      <a:pt x="3406" y="7478"/>
                    </a:cubicBezTo>
                    <a:lnTo>
                      <a:pt x="3572" y="8323"/>
                    </a:lnTo>
                    <a:cubicBezTo>
                      <a:pt x="3632" y="8585"/>
                      <a:pt x="3858" y="8764"/>
                      <a:pt x="4120" y="8764"/>
                    </a:cubicBezTo>
                    <a:lnTo>
                      <a:pt x="4644" y="8764"/>
                    </a:lnTo>
                    <a:cubicBezTo>
                      <a:pt x="4906" y="8764"/>
                      <a:pt x="5132" y="8573"/>
                      <a:pt x="5192" y="8323"/>
                    </a:cubicBezTo>
                    <a:lnTo>
                      <a:pt x="5358" y="7478"/>
                    </a:lnTo>
                    <a:cubicBezTo>
                      <a:pt x="5489" y="7430"/>
                      <a:pt x="5620" y="7371"/>
                      <a:pt x="5763" y="7311"/>
                    </a:cubicBezTo>
                    <a:cubicBezTo>
                      <a:pt x="5846" y="7299"/>
                      <a:pt x="5894" y="7192"/>
                      <a:pt x="5846" y="7109"/>
                    </a:cubicBezTo>
                    <a:cubicBezTo>
                      <a:pt x="5812" y="7039"/>
                      <a:pt x="5751" y="6995"/>
                      <a:pt x="5684" y="6995"/>
                    </a:cubicBezTo>
                    <a:cubicBezTo>
                      <a:pt x="5659" y="6995"/>
                      <a:pt x="5634" y="7001"/>
                      <a:pt x="5608" y="7014"/>
                    </a:cubicBezTo>
                    <a:cubicBezTo>
                      <a:pt x="5465" y="7085"/>
                      <a:pt x="5311" y="7144"/>
                      <a:pt x="5144" y="7180"/>
                    </a:cubicBezTo>
                    <a:cubicBezTo>
                      <a:pt x="5084" y="7192"/>
                      <a:pt x="5025" y="7252"/>
                      <a:pt x="5013" y="7311"/>
                    </a:cubicBezTo>
                    <a:lnTo>
                      <a:pt x="4823" y="8264"/>
                    </a:lnTo>
                    <a:cubicBezTo>
                      <a:pt x="4811" y="8347"/>
                      <a:pt x="4715" y="8430"/>
                      <a:pt x="4632" y="8430"/>
                    </a:cubicBezTo>
                    <a:lnTo>
                      <a:pt x="4108" y="8430"/>
                    </a:lnTo>
                    <a:cubicBezTo>
                      <a:pt x="4013" y="8430"/>
                      <a:pt x="3930" y="8347"/>
                      <a:pt x="3918" y="8264"/>
                    </a:cubicBezTo>
                    <a:lnTo>
                      <a:pt x="3715" y="7311"/>
                    </a:lnTo>
                    <a:cubicBezTo>
                      <a:pt x="3703" y="7252"/>
                      <a:pt x="3656" y="7192"/>
                      <a:pt x="3584" y="7180"/>
                    </a:cubicBezTo>
                    <a:cubicBezTo>
                      <a:pt x="3358" y="7121"/>
                      <a:pt x="3156" y="7025"/>
                      <a:pt x="2965" y="6906"/>
                    </a:cubicBezTo>
                    <a:cubicBezTo>
                      <a:pt x="2935" y="6894"/>
                      <a:pt x="2900" y="6888"/>
                      <a:pt x="2864" y="6888"/>
                    </a:cubicBezTo>
                    <a:cubicBezTo>
                      <a:pt x="2828" y="6888"/>
                      <a:pt x="2792" y="6894"/>
                      <a:pt x="2763" y="6906"/>
                    </a:cubicBezTo>
                    <a:lnTo>
                      <a:pt x="1965" y="7442"/>
                    </a:lnTo>
                    <a:cubicBezTo>
                      <a:pt x="1934" y="7468"/>
                      <a:pt x="1894" y="7480"/>
                      <a:pt x="1854" y="7480"/>
                    </a:cubicBezTo>
                    <a:cubicBezTo>
                      <a:pt x="1802" y="7480"/>
                      <a:pt x="1749" y="7459"/>
                      <a:pt x="1715" y="7418"/>
                    </a:cubicBezTo>
                    <a:lnTo>
                      <a:pt x="1334" y="7049"/>
                    </a:lnTo>
                    <a:cubicBezTo>
                      <a:pt x="1263" y="6966"/>
                      <a:pt x="1263" y="6859"/>
                      <a:pt x="1310" y="6787"/>
                    </a:cubicBezTo>
                    <a:lnTo>
                      <a:pt x="1846" y="5990"/>
                    </a:lnTo>
                    <a:cubicBezTo>
                      <a:pt x="1882" y="5930"/>
                      <a:pt x="1882" y="5859"/>
                      <a:pt x="1846" y="5799"/>
                    </a:cubicBezTo>
                    <a:cubicBezTo>
                      <a:pt x="1727" y="5597"/>
                      <a:pt x="1655" y="5382"/>
                      <a:pt x="1572" y="5168"/>
                    </a:cubicBezTo>
                    <a:cubicBezTo>
                      <a:pt x="1560" y="5109"/>
                      <a:pt x="1501" y="5049"/>
                      <a:pt x="1441" y="5037"/>
                    </a:cubicBezTo>
                    <a:lnTo>
                      <a:pt x="489" y="4847"/>
                    </a:lnTo>
                    <a:cubicBezTo>
                      <a:pt x="393" y="4823"/>
                      <a:pt x="322" y="4739"/>
                      <a:pt x="322" y="4644"/>
                    </a:cubicBezTo>
                    <a:lnTo>
                      <a:pt x="322" y="4132"/>
                    </a:lnTo>
                    <a:cubicBezTo>
                      <a:pt x="322" y="4037"/>
                      <a:pt x="393" y="3954"/>
                      <a:pt x="489" y="3930"/>
                    </a:cubicBezTo>
                    <a:lnTo>
                      <a:pt x="1441" y="3739"/>
                    </a:lnTo>
                    <a:cubicBezTo>
                      <a:pt x="1501" y="3727"/>
                      <a:pt x="1560" y="3680"/>
                      <a:pt x="1572" y="3608"/>
                    </a:cubicBezTo>
                    <a:cubicBezTo>
                      <a:pt x="1632" y="3382"/>
                      <a:pt x="1727" y="3180"/>
                      <a:pt x="1846" y="2977"/>
                    </a:cubicBezTo>
                    <a:cubicBezTo>
                      <a:pt x="1870" y="2918"/>
                      <a:pt x="1870" y="2846"/>
                      <a:pt x="1846" y="2787"/>
                    </a:cubicBezTo>
                    <a:lnTo>
                      <a:pt x="1310" y="1989"/>
                    </a:lnTo>
                    <a:cubicBezTo>
                      <a:pt x="1251" y="1906"/>
                      <a:pt x="1263" y="1787"/>
                      <a:pt x="1334" y="1727"/>
                    </a:cubicBezTo>
                    <a:lnTo>
                      <a:pt x="1715" y="1358"/>
                    </a:lnTo>
                    <a:cubicBezTo>
                      <a:pt x="1754" y="1319"/>
                      <a:pt x="1804" y="1301"/>
                      <a:pt x="1854" y="1301"/>
                    </a:cubicBezTo>
                    <a:cubicBezTo>
                      <a:pt x="1894" y="1301"/>
                      <a:pt x="1933" y="1313"/>
                      <a:pt x="1965" y="1334"/>
                    </a:cubicBezTo>
                    <a:lnTo>
                      <a:pt x="2763" y="1870"/>
                    </a:lnTo>
                    <a:cubicBezTo>
                      <a:pt x="2792" y="1888"/>
                      <a:pt x="2828" y="1897"/>
                      <a:pt x="2864" y="1897"/>
                    </a:cubicBezTo>
                    <a:cubicBezTo>
                      <a:pt x="2900" y="1897"/>
                      <a:pt x="2935" y="1888"/>
                      <a:pt x="2965" y="1870"/>
                    </a:cubicBezTo>
                    <a:cubicBezTo>
                      <a:pt x="3156" y="1751"/>
                      <a:pt x="3382" y="1668"/>
                      <a:pt x="3584" y="1596"/>
                    </a:cubicBezTo>
                    <a:cubicBezTo>
                      <a:pt x="3644" y="1584"/>
                      <a:pt x="3703" y="1525"/>
                      <a:pt x="3715" y="1465"/>
                    </a:cubicBezTo>
                    <a:lnTo>
                      <a:pt x="3918" y="513"/>
                    </a:lnTo>
                    <a:cubicBezTo>
                      <a:pt x="3930" y="417"/>
                      <a:pt x="4013" y="346"/>
                      <a:pt x="4108" y="346"/>
                    </a:cubicBezTo>
                    <a:lnTo>
                      <a:pt x="4632" y="346"/>
                    </a:lnTo>
                    <a:cubicBezTo>
                      <a:pt x="4715" y="346"/>
                      <a:pt x="4811" y="417"/>
                      <a:pt x="4823" y="513"/>
                    </a:cubicBezTo>
                    <a:lnTo>
                      <a:pt x="5013" y="1465"/>
                    </a:lnTo>
                    <a:cubicBezTo>
                      <a:pt x="5025" y="1525"/>
                      <a:pt x="5073" y="1584"/>
                      <a:pt x="5144" y="1596"/>
                    </a:cubicBezTo>
                    <a:cubicBezTo>
                      <a:pt x="5370" y="1656"/>
                      <a:pt x="5585" y="1751"/>
                      <a:pt x="5775" y="1870"/>
                    </a:cubicBezTo>
                    <a:cubicBezTo>
                      <a:pt x="5805" y="1882"/>
                      <a:pt x="5838" y="1888"/>
                      <a:pt x="5870" y="1888"/>
                    </a:cubicBezTo>
                    <a:cubicBezTo>
                      <a:pt x="5903" y="1888"/>
                      <a:pt x="5936" y="1882"/>
                      <a:pt x="5966" y="1870"/>
                    </a:cubicBezTo>
                    <a:lnTo>
                      <a:pt x="6775" y="1334"/>
                    </a:lnTo>
                    <a:cubicBezTo>
                      <a:pt x="6806" y="1309"/>
                      <a:pt x="6846" y="1296"/>
                      <a:pt x="6886" y="1296"/>
                    </a:cubicBezTo>
                    <a:cubicBezTo>
                      <a:pt x="6938" y="1296"/>
                      <a:pt x="6991" y="1317"/>
                      <a:pt x="7025" y="1358"/>
                    </a:cubicBezTo>
                    <a:lnTo>
                      <a:pt x="7394" y="1727"/>
                    </a:lnTo>
                    <a:cubicBezTo>
                      <a:pt x="7466" y="1810"/>
                      <a:pt x="7466" y="1906"/>
                      <a:pt x="7430" y="1989"/>
                    </a:cubicBezTo>
                    <a:lnTo>
                      <a:pt x="6894" y="2787"/>
                    </a:lnTo>
                    <a:cubicBezTo>
                      <a:pt x="6847" y="2846"/>
                      <a:pt x="6847" y="2918"/>
                      <a:pt x="6894" y="2977"/>
                    </a:cubicBezTo>
                    <a:cubicBezTo>
                      <a:pt x="7013" y="3180"/>
                      <a:pt x="7085" y="3394"/>
                      <a:pt x="7156" y="3608"/>
                    </a:cubicBezTo>
                    <a:cubicBezTo>
                      <a:pt x="7168" y="3668"/>
                      <a:pt x="7228" y="3727"/>
                      <a:pt x="7287" y="3739"/>
                    </a:cubicBezTo>
                    <a:lnTo>
                      <a:pt x="8240" y="3930"/>
                    </a:lnTo>
                    <a:cubicBezTo>
                      <a:pt x="8335" y="3954"/>
                      <a:pt x="8406" y="4037"/>
                      <a:pt x="8406" y="4132"/>
                    </a:cubicBezTo>
                    <a:lnTo>
                      <a:pt x="8406" y="4644"/>
                    </a:lnTo>
                    <a:cubicBezTo>
                      <a:pt x="8406" y="4739"/>
                      <a:pt x="8335" y="4823"/>
                      <a:pt x="8240" y="4847"/>
                    </a:cubicBezTo>
                    <a:lnTo>
                      <a:pt x="7287" y="5037"/>
                    </a:lnTo>
                    <a:cubicBezTo>
                      <a:pt x="7228" y="5049"/>
                      <a:pt x="7168" y="5097"/>
                      <a:pt x="7156" y="5168"/>
                    </a:cubicBezTo>
                    <a:cubicBezTo>
                      <a:pt x="7109" y="5335"/>
                      <a:pt x="7049" y="5478"/>
                      <a:pt x="6978" y="5632"/>
                    </a:cubicBezTo>
                    <a:cubicBezTo>
                      <a:pt x="6930" y="5716"/>
                      <a:pt x="6978" y="5823"/>
                      <a:pt x="7073" y="5871"/>
                    </a:cubicBezTo>
                    <a:cubicBezTo>
                      <a:pt x="7095" y="5883"/>
                      <a:pt x="7119" y="5889"/>
                      <a:pt x="7143" y="5889"/>
                    </a:cubicBezTo>
                    <a:cubicBezTo>
                      <a:pt x="7209" y="5889"/>
                      <a:pt x="7276" y="5845"/>
                      <a:pt x="7311" y="5775"/>
                    </a:cubicBezTo>
                    <a:cubicBezTo>
                      <a:pt x="7370" y="5644"/>
                      <a:pt x="7430" y="5513"/>
                      <a:pt x="7466" y="5359"/>
                    </a:cubicBezTo>
                    <a:lnTo>
                      <a:pt x="8323" y="5204"/>
                    </a:lnTo>
                    <a:cubicBezTo>
                      <a:pt x="8585" y="5144"/>
                      <a:pt x="8763" y="4918"/>
                      <a:pt x="8763" y="4644"/>
                    </a:cubicBezTo>
                    <a:lnTo>
                      <a:pt x="8763" y="4132"/>
                    </a:lnTo>
                    <a:cubicBezTo>
                      <a:pt x="8763" y="3858"/>
                      <a:pt x="8573" y="3632"/>
                      <a:pt x="8323" y="3573"/>
                    </a:cubicBezTo>
                    <a:lnTo>
                      <a:pt x="7466" y="3406"/>
                    </a:lnTo>
                    <a:cubicBezTo>
                      <a:pt x="7406" y="3227"/>
                      <a:pt x="7347" y="3073"/>
                      <a:pt x="7263" y="2906"/>
                    </a:cubicBezTo>
                    <a:lnTo>
                      <a:pt x="7740" y="2191"/>
                    </a:lnTo>
                    <a:cubicBezTo>
                      <a:pt x="7882" y="1965"/>
                      <a:pt x="7859" y="1668"/>
                      <a:pt x="7668" y="1477"/>
                    </a:cubicBezTo>
                    <a:lnTo>
                      <a:pt x="7287" y="1108"/>
                    </a:lnTo>
                    <a:cubicBezTo>
                      <a:pt x="7177" y="998"/>
                      <a:pt x="7032" y="940"/>
                      <a:pt x="6885" y="940"/>
                    </a:cubicBezTo>
                    <a:cubicBezTo>
                      <a:pt x="6777" y="940"/>
                      <a:pt x="6668" y="971"/>
                      <a:pt x="6573" y="1037"/>
                    </a:cubicBezTo>
                    <a:lnTo>
                      <a:pt x="5858" y="1513"/>
                    </a:lnTo>
                    <a:cubicBezTo>
                      <a:pt x="5704" y="1418"/>
                      <a:pt x="5537" y="1358"/>
                      <a:pt x="5358" y="1299"/>
                    </a:cubicBezTo>
                    <a:lnTo>
                      <a:pt x="5192" y="453"/>
                    </a:lnTo>
                    <a:cubicBezTo>
                      <a:pt x="5132" y="179"/>
                      <a:pt x="4906" y="1"/>
                      <a:pt x="46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224;p31">
                <a:extLst>
                  <a:ext uri="{FF2B5EF4-FFF2-40B4-BE49-F238E27FC236}">
                    <a16:creationId xmlns:a16="http://schemas.microsoft.com/office/drawing/2014/main" id="{3F5F53E0-2A76-D94C-98FF-477D45A365E4}"/>
                  </a:ext>
                </a:extLst>
              </p:cNvPr>
              <p:cNvSpPr/>
              <p:nvPr/>
            </p:nvSpPr>
            <p:spPr>
              <a:xfrm>
                <a:off x="6161507" y="2967679"/>
                <a:ext cx="111851" cy="97432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061" extrusionOk="0">
                    <a:moveTo>
                      <a:pt x="1489" y="1"/>
                    </a:moveTo>
                    <a:cubicBezTo>
                      <a:pt x="965" y="1"/>
                      <a:pt x="465" y="215"/>
                      <a:pt x="84" y="584"/>
                    </a:cubicBezTo>
                    <a:cubicBezTo>
                      <a:pt x="1" y="656"/>
                      <a:pt x="1" y="763"/>
                      <a:pt x="84" y="834"/>
                    </a:cubicBezTo>
                    <a:cubicBezTo>
                      <a:pt x="120" y="870"/>
                      <a:pt x="164" y="888"/>
                      <a:pt x="209" y="888"/>
                    </a:cubicBezTo>
                    <a:cubicBezTo>
                      <a:pt x="254" y="888"/>
                      <a:pt x="298" y="870"/>
                      <a:pt x="334" y="834"/>
                    </a:cubicBezTo>
                    <a:cubicBezTo>
                      <a:pt x="644" y="537"/>
                      <a:pt x="1060" y="358"/>
                      <a:pt x="1489" y="358"/>
                    </a:cubicBezTo>
                    <a:cubicBezTo>
                      <a:pt x="2418" y="358"/>
                      <a:pt x="3168" y="1108"/>
                      <a:pt x="3168" y="2025"/>
                    </a:cubicBezTo>
                    <a:cubicBezTo>
                      <a:pt x="3168" y="2299"/>
                      <a:pt x="3096" y="2549"/>
                      <a:pt x="2989" y="2787"/>
                    </a:cubicBezTo>
                    <a:cubicBezTo>
                      <a:pt x="2930" y="2894"/>
                      <a:pt x="2953" y="2989"/>
                      <a:pt x="3049" y="3037"/>
                    </a:cubicBezTo>
                    <a:cubicBezTo>
                      <a:pt x="3073" y="3061"/>
                      <a:pt x="3108" y="3061"/>
                      <a:pt x="3132" y="3061"/>
                    </a:cubicBezTo>
                    <a:cubicBezTo>
                      <a:pt x="3192" y="3061"/>
                      <a:pt x="3263" y="3025"/>
                      <a:pt x="3299" y="2954"/>
                    </a:cubicBezTo>
                    <a:cubicBezTo>
                      <a:pt x="3442" y="2668"/>
                      <a:pt x="3513" y="2358"/>
                      <a:pt x="3513" y="2025"/>
                    </a:cubicBezTo>
                    <a:cubicBezTo>
                      <a:pt x="3513" y="906"/>
                      <a:pt x="2608" y="1"/>
                      <a:pt x="1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225;p31">
                <a:extLst>
                  <a:ext uri="{FF2B5EF4-FFF2-40B4-BE49-F238E27FC236}">
                    <a16:creationId xmlns:a16="http://schemas.microsoft.com/office/drawing/2014/main" id="{2A227164-5C52-C5B3-FADA-7D1ED681D050}"/>
                  </a:ext>
                </a:extLst>
              </p:cNvPr>
              <p:cNvSpPr/>
              <p:nvPr/>
            </p:nvSpPr>
            <p:spPr>
              <a:xfrm>
                <a:off x="6144828" y="3007848"/>
                <a:ext cx="105389" cy="88742"/>
              </a:xfrm>
              <a:custGeom>
                <a:avLst/>
                <a:gdLst/>
                <a:ahLst/>
                <a:cxnLst/>
                <a:rect l="l" t="t" r="r" b="b"/>
                <a:pathLst>
                  <a:path w="3311" h="2788" extrusionOk="0">
                    <a:moveTo>
                      <a:pt x="262" y="1"/>
                    </a:moveTo>
                    <a:cubicBezTo>
                      <a:pt x="194" y="1"/>
                      <a:pt x="124" y="44"/>
                      <a:pt x="96" y="108"/>
                    </a:cubicBezTo>
                    <a:cubicBezTo>
                      <a:pt x="25" y="323"/>
                      <a:pt x="1" y="549"/>
                      <a:pt x="1" y="763"/>
                    </a:cubicBezTo>
                    <a:cubicBezTo>
                      <a:pt x="1" y="1882"/>
                      <a:pt x="906" y="2787"/>
                      <a:pt x="2013" y="2787"/>
                    </a:cubicBezTo>
                    <a:cubicBezTo>
                      <a:pt x="2454" y="2787"/>
                      <a:pt x="2846" y="2656"/>
                      <a:pt x="3204" y="2406"/>
                    </a:cubicBezTo>
                    <a:cubicBezTo>
                      <a:pt x="3287" y="2347"/>
                      <a:pt x="3311" y="2239"/>
                      <a:pt x="3251" y="2156"/>
                    </a:cubicBezTo>
                    <a:cubicBezTo>
                      <a:pt x="3214" y="2104"/>
                      <a:pt x="3159" y="2075"/>
                      <a:pt x="3102" y="2075"/>
                    </a:cubicBezTo>
                    <a:cubicBezTo>
                      <a:pt x="3068" y="2075"/>
                      <a:pt x="3033" y="2086"/>
                      <a:pt x="3001" y="2108"/>
                    </a:cubicBezTo>
                    <a:cubicBezTo>
                      <a:pt x="2715" y="2311"/>
                      <a:pt x="2370" y="2418"/>
                      <a:pt x="2037" y="2418"/>
                    </a:cubicBezTo>
                    <a:cubicBezTo>
                      <a:pt x="1108" y="2418"/>
                      <a:pt x="370" y="1680"/>
                      <a:pt x="370" y="751"/>
                    </a:cubicBezTo>
                    <a:cubicBezTo>
                      <a:pt x="370" y="573"/>
                      <a:pt x="394" y="382"/>
                      <a:pt x="453" y="215"/>
                    </a:cubicBezTo>
                    <a:cubicBezTo>
                      <a:pt x="477" y="144"/>
                      <a:pt x="406" y="37"/>
                      <a:pt x="322" y="13"/>
                    </a:cubicBezTo>
                    <a:cubicBezTo>
                      <a:pt x="303" y="5"/>
                      <a:pt x="283" y="1"/>
                      <a:pt x="26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226;p31">
                <a:extLst>
                  <a:ext uri="{FF2B5EF4-FFF2-40B4-BE49-F238E27FC236}">
                    <a16:creationId xmlns:a16="http://schemas.microsoft.com/office/drawing/2014/main" id="{B06280D8-B6CB-205A-A18A-14D16D2390C1}"/>
                  </a:ext>
                </a:extLst>
              </p:cNvPr>
              <p:cNvSpPr/>
              <p:nvPr/>
            </p:nvSpPr>
            <p:spPr>
              <a:xfrm>
                <a:off x="6245633" y="3069248"/>
                <a:ext cx="186110" cy="186874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5871" extrusionOk="0">
                    <a:moveTo>
                      <a:pt x="2751" y="1"/>
                    </a:moveTo>
                    <a:cubicBezTo>
                      <a:pt x="2549" y="1"/>
                      <a:pt x="2370" y="144"/>
                      <a:pt x="2335" y="346"/>
                    </a:cubicBezTo>
                    <a:lnTo>
                      <a:pt x="2227" y="858"/>
                    </a:lnTo>
                    <a:cubicBezTo>
                      <a:pt x="2144" y="894"/>
                      <a:pt x="2037" y="941"/>
                      <a:pt x="1965" y="977"/>
                    </a:cubicBezTo>
                    <a:lnTo>
                      <a:pt x="1513" y="680"/>
                    </a:lnTo>
                    <a:cubicBezTo>
                      <a:pt x="1449" y="631"/>
                      <a:pt x="1372" y="608"/>
                      <a:pt x="1293" y="608"/>
                    </a:cubicBezTo>
                    <a:cubicBezTo>
                      <a:pt x="1179" y="608"/>
                      <a:pt x="1061" y="655"/>
                      <a:pt x="977" y="739"/>
                    </a:cubicBezTo>
                    <a:lnTo>
                      <a:pt x="739" y="977"/>
                    </a:lnTo>
                    <a:cubicBezTo>
                      <a:pt x="596" y="1132"/>
                      <a:pt x="584" y="1346"/>
                      <a:pt x="680" y="1513"/>
                    </a:cubicBezTo>
                    <a:lnTo>
                      <a:pt x="977" y="1965"/>
                    </a:lnTo>
                    <a:cubicBezTo>
                      <a:pt x="918" y="2084"/>
                      <a:pt x="882" y="2215"/>
                      <a:pt x="834" y="2346"/>
                    </a:cubicBezTo>
                    <a:cubicBezTo>
                      <a:pt x="799" y="2442"/>
                      <a:pt x="858" y="2537"/>
                      <a:pt x="953" y="2573"/>
                    </a:cubicBezTo>
                    <a:cubicBezTo>
                      <a:pt x="968" y="2579"/>
                      <a:pt x="984" y="2582"/>
                      <a:pt x="1000" y="2582"/>
                    </a:cubicBezTo>
                    <a:cubicBezTo>
                      <a:pt x="1073" y="2582"/>
                      <a:pt x="1150" y="2522"/>
                      <a:pt x="1180" y="2454"/>
                    </a:cubicBezTo>
                    <a:cubicBezTo>
                      <a:pt x="1215" y="2323"/>
                      <a:pt x="1263" y="2192"/>
                      <a:pt x="1334" y="2049"/>
                    </a:cubicBezTo>
                    <a:cubicBezTo>
                      <a:pt x="1370" y="1989"/>
                      <a:pt x="1370" y="1918"/>
                      <a:pt x="1334" y="1858"/>
                    </a:cubicBezTo>
                    <a:lnTo>
                      <a:pt x="977" y="1322"/>
                    </a:lnTo>
                    <a:cubicBezTo>
                      <a:pt x="965" y="1287"/>
                      <a:pt x="965" y="1263"/>
                      <a:pt x="1001" y="1239"/>
                    </a:cubicBezTo>
                    <a:lnTo>
                      <a:pt x="1239" y="989"/>
                    </a:lnTo>
                    <a:cubicBezTo>
                      <a:pt x="1253" y="975"/>
                      <a:pt x="1271" y="969"/>
                      <a:pt x="1288" y="969"/>
                    </a:cubicBezTo>
                    <a:cubicBezTo>
                      <a:pt x="1301" y="969"/>
                      <a:pt x="1313" y="972"/>
                      <a:pt x="1322" y="977"/>
                    </a:cubicBezTo>
                    <a:lnTo>
                      <a:pt x="1858" y="1334"/>
                    </a:lnTo>
                    <a:cubicBezTo>
                      <a:pt x="1888" y="1358"/>
                      <a:pt x="1921" y="1370"/>
                      <a:pt x="1954" y="1370"/>
                    </a:cubicBezTo>
                    <a:cubicBezTo>
                      <a:pt x="1986" y="1370"/>
                      <a:pt x="2019" y="1358"/>
                      <a:pt x="2049" y="1334"/>
                    </a:cubicBezTo>
                    <a:cubicBezTo>
                      <a:pt x="2168" y="1263"/>
                      <a:pt x="2323" y="1203"/>
                      <a:pt x="2454" y="1168"/>
                    </a:cubicBezTo>
                    <a:cubicBezTo>
                      <a:pt x="2513" y="1156"/>
                      <a:pt x="2573" y="1096"/>
                      <a:pt x="2585" y="1037"/>
                    </a:cubicBezTo>
                    <a:lnTo>
                      <a:pt x="2704" y="418"/>
                    </a:lnTo>
                    <a:cubicBezTo>
                      <a:pt x="2704" y="382"/>
                      <a:pt x="2739" y="358"/>
                      <a:pt x="2775" y="358"/>
                    </a:cubicBezTo>
                    <a:lnTo>
                      <a:pt x="3120" y="358"/>
                    </a:lnTo>
                    <a:cubicBezTo>
                      <a:pt x="3156" y="358"/>
                      <a:pt x="3180" y="382"/>
                      <a:pt x="3192" y="418"/>
                    </a:cubicBezTo>
                    <a:lnTo>
                      <a:pt x="3311" y="1037"/>
                    </a:lnTo>
                    <a:cubicBezTo>
                      <a:pt x="3335" y="1096"/>
                      <a:pt x="3370" y="1156"/>
                      <a:pt x="3454" y="1168"/>
                    </a:cubicBezTo>
                    <a:cubicBezTo>
                      <a:pt x="3585" y="1215"/>
                      <a:pt x="3716" y="1263"/>
                      <a:pt x="3847" y="1334"/>
                    </a:cubicBezTo>
                    <a:cubicBezTo>
                      <a:pt x="3882" y="1352"/>
                      <a:pt x="3918" y="1361"/>
                      <a:pt x="3952" y="1361"/>
                    </a:cubicBezTo>
                    <a:cubicBezTo>
                      <a:pt x="3987" y="1361"/>
                      <a:pt x="4019" y="1352"/>
                      <a:pt x="4049" y="1334"/>
                    </a:cubicBezTo>
                    <a:lnTo>
                      <a:pt x="4585" y="977"/>
                    </a:lnTo>
                    <a:cubicBezTo>
                      <a:pt x="4595" y="972"/>
                      <a:pt x="4607" y="969"/>
                      <a:pt x="4619" y="969"/>
                    </a:cubicBezTo>
                    <a:cubicBezTo>
                      <a:pt x="4636" y="969"/>
                      <a:pt x="4654" y="975"/>
                      <a:pt x="4668" y="989"/>
                    </a:cubicBezTo>
                    <a:lnTo>
                      <a:pt x="4906" y="1239"/>
                    </a:lnTo>
                    <a:cubicBezTo>
                      <a:pt x="4942" y="1263"/>
                      <a:pt x="4942" y="1287"/>
                      <a:pt x="4918" y="1322"/>
                    </a:cubicBezTo>
                    <a:lnTo>
                      <a:pt x="4561" y="1858"/>
                    </a:lnTo>
                    <a:cubicBezTo>
                      <a:pt x="4525" y="1918"/>
                      <a:pt x="4525" y="1989"/>
                      <a:pt x="4561" y="2049"/>
                    </a:cubicBezTo>
                    <a:cubicBezTo>
                      <a:pt x="4644" y="2168"/>
                      <a:pt x="4704" y="2323"/>
                      <a:pt x="4728" y="2454"/>
                    </a:cubicBezTo>
                    <a:cubicBezTo>
                      <a:pt x="4740" y="2513"/>
                      <a:pt x="4799" y="2573"/>
                      <a:pt x="4859" y="2585"/>
                    </a:cubicBezTo>
                    <a:lnTo>
                      <a:pt x="5490" y="2704"/>
                    </a:lnTo>
                    <a:cubicBezTo>
                      <a:pt x="5513" y="2704"/>
                      <a:pt x="5549" y="2739"/>
                      <a:pt x="5549" y="2775"/>
                    </a:cubicBezTo>
                    <a:lnTo>
                      <a:pt x="5549" y="3120"/>
                    </a:lnTo>
                    <a:cubicBezTo>
                      <a:pt x="5549" y="3156"/>
                      <a:pt x="5513" y="3180"/>
                      <a:pt x="5490" y="3192"/>
                    </a:cubicBezTo>
                    <a:lnTo>
                      <a:pt x="4859" y="3311"/>
                    </a:lnTo>
                    <a:cubicBezTo>
                      <a:pt x="4799" y="3335"/>
                      <a:pt x="4740" y="3370"/>
                      <a:pt x="4728" y="3454"/>
                    </a:cubicBezTo>
                    <a:cubicBezTo>
                      <a:pt x="4680" y="3585"/>
                      <a:pt x="4644" y="3716"/>
                      <a:pt x="4561" y="3847"/>
                    </a:cubicBezTo>
                    <a:cubicBezTo>
                      <a:pt x="4537" y="3906"/>
                      <a:pt x="4537" y="3989"/>
                      <a:pt x="4561" y="4049"/>
                    </a:cubicBezTo>
                    <a:lnTo>
                      <a:pt x="4918" y="4585"/>
                    </a:lnTo>
                    <a:cubicBezTo>
                      <a:pt x="4942" y="4609"/>
                      <a:pt x="4942" y="4644"/>
                      <a:pt x="4906" y="4668"/>
                    </a:cubicBezTo>
                    <a:lnTo>
                      <a:pt x="4668" y="4906"/>
                    </a:lnTo>
                    <a:cubicBezTo>
                      <a:pt x="4655" y="4926"/>
                      <a:pt x="4638" y="4935"/>
                      <a:pt x="4622" y="4935"/>
                    </a:cubicBezTo>
                    <a:cubicBezTo>
                      <a:pt x="4609" y="4935"/>
                      <a:pt x="4595" y="4929"/>
                      <a:pt x="4585" y="4918"/>
                    </a:cubicBezTo>
                    <a:lnTo>
                      <a:pt x="4049" y="4561"/>
                    </a:lnTo>
                    <a:cubicBezTo>
                      <a:pt x="4019" y="4543"/>
                      <a:pt x="3984" y="4534"/>
                      <a:pt x="3948" y="4534"/>
                    </a:cubicBezTo>
                    <a:cubicBezTo>
                      <a:pt x="3912" y="4534"/>
                      <a:pt x="3876" y="4543"/>
                      <a:pt x="3847" y="4561"/>
                    </a:cubicBezTo>
                    <a:cubicBezTo>
                      <a:pt x="3728" y="4644"/>
                      <a:pt x="3585" y="4704"/>
                      <a:pt x="3454" y="4728"/>
                    </a:cubicBezTo>
                    <a:cubicBezTo>
                      <a:pt x="3394" y="4751"/>
                      <a:pt x="3335" y="4811"/>
                      <a:pt x="3311" y="4859"/>
                    </a:cubicBezTo>
                    <a:lnTo>
                      <a:pt x="3192" y="5490"/>
                    </a:lnTo>
                    <a:cubicBezTo>
                      <a:pt x="3192" y="5525"/>
                      <a:pt x="3168" y="5549"/>
                      <a:pt x="3120" y="5549"/>
                    </a:cubicBezTo>
                    <a:lnTo>
                      <a:pt x="2775" y="5549"/>
                    </a:lnTo>
                    <a:cubicBezTo>
                      <a:pt x="2751" y="5549"/>
                      <a:pt x="2716" y="5513"/>
                      <a:pt x="2704" y="5490"/>
                    </a:cubicBezTo>
                    <a:lnTo>
                      <a:pt x="2585" y="4859"/>
                    </a:lnTo>
                    <a:cubicBezTo>
                      <a:pt x="2573" y="4811"/>
                      <a:pt x="2525" y="4751"/>
                      <a:pt x="2454" y="4728"/>
                    </a:cubicBezTo>
                    <a:cubicBezTo>
                      <a:pt x="2323" y="4692"/>
                      <a:pt x="2180" y="4644"/>
                      <a:pt x="2049" y="4561"/>
                    </a:cubicBezTo>
                    <a:cubicBezTo>
                      <a:pt x="2019" y="4549"/>
                      <a:pt x="1986" y="4543"/>
                      <a:pt x="1954" y="4543"/>
                    </a:cubicBezTo>
                    <a:cubicBezTo>
                      <a:pt x="1921" y="4543"/>
                      <a:pt x="1888" y="4549"/>
                      <a:pt x="1858" y="4561"/>
                    </a:cubicBezTo>
                    <a:lnTo>
                      <a:pt x="1322" y="4918"/>
                    </a:lnTo>
                    <a:cubicBezTo>
                      <a:pt x="1306" y="4929"/>
                      <a:pt x="1293" y="4935"/>
                      <a:pt x="1280" y="4935"/>
                    </a:cubicBezTo>
                    <a:cubicBezTo>
                      <a:pt x="1265" y="4935"/>
                      <a:pt x="1252" y="4926"/>
                      <a:pt x="1239" y="4906"/>
                    </a:cubicBezTo>
                    <a:lnTo>
                      <a:pt x="1001" y="4668"/>
                    </a:lnTo>
                    <a:cubicBezTo>
                      <a:pt x="965" y="4644"/>
                      <a:pt x="965" y="4609"/>
                      <a:pt x="977" y="4585"/>
                    </a:cubicBezTo>
                    <a:lnTo>
                      <a:pt x="1334" y="4049"/>
                    </a:lnTo>
                    <a:cubicBezTo>
                      <a:pt x="1382" y="3989"/>
                      <a:pt x="1382" y="3906"/>
                      <a:pt x="1334" y="3847"/>
                    </a:cubicBezTo>
                    <a:cubicBezTo>
                      <a:pt x="1263" y="3728"/>
                      <a:pt x="1203" y="3585"/>
                      <a:pt x="1180" y="3454"/>
                    </a:cubicBezTo>
                    <a:cubicBezTo>
                      <a:pt x="1156" y="3394"/>
                      <a:pt x="1096" y="3335"/>
                      <a:pt x="1037" y="3311"/>
                    </a:cubicBezTo>
                    <a:lnTo>
                      <a:pt x="418" y="3192"/>
                    </a:lnTo>
                    <a:cubicBezTo>
                      <a:pt x="382" y="3192"/>
                      <a:pt x="358" y="3168"/>
                      <a:pt x="358" y="3120"/>
                    </a:cubicBezTo>
                    <a:lnTo>
                      <a:pt x="358" y="2775"/>
                    </a:lnTo>
                    <a:cubicBezTo>
                      <a:pt x="358" y="2751"/>
                      <a:pt x="382" y="2727"/>
                      <a:pt x="418" y="2704"/>
                    </a:cubicBezTo>
                    <a:lnTo>
                      <a:pt x="465" y="2692"/>
                    </a:lnTo>
                    <a:cubicBezTo>
                      <a:pt x="560" y="2680"/>
                      <a:pt x="620" y="2573"/>
                      <a:pt x="596" y="2477"/>
                    </a:cubicBezTo>
                    <a:cubicBezTo>
                      <a:pt x="586" y="2396"/>
                      <a:pt x="507" y="2341"/>
                      <a:pt x="425" y="2341"/>
                    </a:cubicBezTo>
                    <a:cubicBezTo>
                      <a:pt x="411" y="2341"/>
                      <a:pt x="396" y="2343"/>
                      <a:pt x="382" y="2346"/>
                    </a:cubicBezTo>
                    <a:lnTo>
                      <a:pt x="346" y="2370"/>
                    </a:lnTo>
                    <a:cubicBezTo>
                      <a:pt x="144" y="2406"/>
                      <a:pt x="1" y="2585"/>
                      <a:pt x="1" y="2775"/>
                    </a:cubicBezTo>
                    <a:lnTo>
                      <a:pt x="1" y="3120"/>
                    </a:lnTo>
                    <a:cubicBezTo>
                      <a:pt x="1" y="3335"/>
                      <a:pt x="144" y="3513"/>
                      <a:pt x="346" y="3537"/>
                    </a:cubicBezTo>
                    <a:lnTo>
                      <a:pt x="858" y="3644"/>
                    </a:lnTo>
                    <a:cubicBezTo>
                      <a:pt x="894" y="3728"/>
                      <a:pt x="941" y="3835"/>
                      <a:pt x="977" y="3906"/>
                    </a:cubicBezTo>
                    <a:lnTo>
                      <a:pt x="680" y="4359"/>
                    </a:lnTo>
                    <a:cubicBezTo>
                      <a:pt x="560" y="4525"/>
                      <a:pt x="596" y="4763"/>
                      <a:pt x="739" y="4894"/>
                    </a:cubicBezTo>
                    <a:lnTo>
                      <a:pt x="977" y="5132"/>
                    </a:lnTo>
                    <a:cubicBezTo>
                      <a:pt x="1067" y="5216"/>
                      <a:pt x="1182" y="5259"/>
                      <a:pt x="1292" y="5259"/>
                    </a:cubicBezTo>
                    <a:cubicBezTo>
                      <a:pt x="1371" y="5259"/>
                      <a:pt x="1448" y="5237"/>
                      <a:pt x="1513" y="5192"/>
                    </a:cubicBezTo>
                    <a:lnTo>
                      <a:pt x="1965" y="4894"/>
                    </a:lnTo>
                    <a:cubicBezTo>
                      <a:pt x="2049" y="4942"/>
                      <a:pt x="2144" y="4978"/>
                      <a:pt x="2227" y="5013"/>
                    </a:cubicBezTo>
                    <a:lnTo>
                      <a:pt x="2335" y="5537"/>
                    </a:lnTo>
                    <a:cubicBezTo>
                      <a:pt x="2382" y="5728"/>
                      <a:pt x="2561" y="5871"/>
                      <a:pt x="2751" y="5871"/>
                    </a:cubicBezTo>
                    <a:lnTo>
                      <a:pt x="3097" y="5871"/>
                    </a:lnTo>
                    <a:cubicBezTo>
                      <a:pt x="3299" y="5871"/>
                      <a:pt x="3478" y="5728"/>
                      <a:pt x="3513" y="5537"/>
                    </a:cubicBezTo>
                    <a:lnTo>
                      <a:pt x="3620" y="5013"/>
                    </a:lnTo>
                    <a:cubicBezTo>
                      <a:pt x="3704" y="4978"/>
                      <a:pt x="3811" y="4942"/>
                      <a:pt x="3882" y="4894"/>
                    </a:cubicBezTo>
                    <a:lnTo>
                      <a:pt x="4323" y="5192"/>
                    </a:lnTo>
                    <a:cubicBezTo>
                      <a:pt x="4391" y="5241"/>
                      <a:pt x="4472" y="5264"/>
                      <a:pt x="4552" y="5264"/>
                    </a:cubicBezTo>
                    <a:cubicBezTo>
                      <a:pt x="4667" y="5264"/>
                      <a:pt x="4781" y="5217"/>
                      <a:pt x="4859" y="5132"/>
                    </a:cubicBezTo>
                    <a:lnTo>
                      <a:pt x="5097" y="4894"/>
                    </a:lnTo>
                    <a:cubicBezTo>
                      <a:pt x="5252" y="4740"/>
                      <a:pt x="5263" y="4525"/>
                      <a:pt x="5156" y="4359"/>
                    </a:cubicBezTo>
                    <a:lnTo>
                      <a:pt x="4859" y="3906"/>
                    </a:lnTo>
                    <a:cubicBezTo>
                      <a:pt x="4906" y="3823"/>
                      <a:pt x="4954" y="3728"/>
                      <a:pt x="4978" y="3644"/>
                    </a:cubicBezTo>
                    <a:lnTo>
                      <a:pt x="5502" y="3537"/>
                    </a:lnTo>
                    <a:cubicBezTo>
                      <a:pt x="5692" y="3489"/>
                      <a:pt x="5847" y="3311"/>
                      <a:pt x="5847" y="3120"/>
                    </a:cubicBezTo>
                    <a:lnTo>
                      <a:pt x="5847" y="2775"/>
                    </a:lnTo>
                    <a:cubicBezTo>
                      <a:pt x="5847" y="2549"/>
                      <a:pt x="5716" y="2382"/>
                      <a:pt x="5502" y="2334"/>
                    </a:cubicBezTo>
                    <a:lnTo>
                      <a:pt x="4990" y="2227"/>
                    </a:lnTo>
                    <a:cubicBezTo>
                      <a:pt x="4954" y="2144"/>
                      <a:pt x="4906" y="2037"/>
                      <a:pt x="4871" y="1965"/>
                    </a:cubicBezTo>
                    <a:lnTo>
                      <a:pt x="5168" y="1513"/>
                    </a:lnTo>
                    <a:cubicBezTo>
                      <a:pt x="5287" y="1346"/>
                      <a:pt x="5252" y="1108"/>
                      <a:pt x="5109" y="977"/>
                    </a:cubicBezTo>
                    <a:lnTo>
                      <a:pt x="4871" y="739"/>
                    </a:lnTo>
                    <a:cubicBezTo>
                      <a:pt x="4780" y="656"/>
                      <a:pt x="4666" y="613"/>
                      <a:pt x="4555" y="613"/>
                    </a:cubicBezTo>
                    <a:cubicBezTo>
                      <a:pt x="4476" y="613"/>
                      <a:pt x="4399" y="635"/>
                      <a:pt x="4335" y="680"/>
                    </a:cubicBezTo>
                    <a:lnTo>
                      <a:pt x="3882" y="977"/>
                    </a:lnTo>
                    <a:cubicBezTo>
                      <a:pt x="3799" y="941"/>
                      <a:pt x="3704" y="894"/>
                      <a:pt x="3620" y="858"/>
                    </a:cubicBezTo>
                    <a:lnTo>
                      <a:pt x="3513" y="346"/>
                    </a:lnTo>
                    <a:cubicBezTo>
                      <a:pt x="3466" y="144"/>
                      <a:pt x="3287" y="1"/>
                      <a:pt x="30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227;p31">
                <a:extLst>
                  <a:ext uri="{FF2B5EF4-FFF2-40B4-BE49-F238E27FC236}">
                    <a16:creationId xmlns:a16="http://schemas.microsoft.com/office/drawing/2014/main" id="{F21FA721-29F9-9E32-112F-B38BF3133177}"/>
                  </a:ext>
                </a:extLst>
              </p:cNvPr>
              <p:cNvSpPr/>
              <p:nvPr/>
            </p:nvSpPr>
            <p:spPr>
              <a:xfrm>
                <a:off x="6305888" y="3129884"/>
                <a:ext cx="64488" cy="64456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2025" extrusionOk="0">
                    <a:moveTo>
                      <a:pt x="1013" y="1"/>
                    </a:moveTo>
                    <a:cubicBezTo>
                      <a:pt x="453" y="1"/>
                      <a:pt x="1" y="441"/>
                      <a:pt x="1" y="1013"/>
                    </a:cubicBezTo>
                    <a:cubicBezTo>
                      <a:pt x="1" y="1561"/>
                      <a:pt x="442" y="2025"/>
                      <a:pt x="1013" y="2025"/>
                    </a:cubicBezTo>
                    <a:cubicBezTo>
                      <a:pt x="1227" y="2025"/>
                      <a:pt x="1442" y="1942"/>
                      <a:pt x="1620" y="1811"/>
                    </a:cubicBezTo>
                    <a:cubicBezTo>
                      <a:pt x="1692" y="1751"/>
                      <a:pt x="1704" y="1632"/>
                      <a:pt x="1644" y="1561"/>
                    </a:cubicBezTo>
                    <a:cubicBezTo>
                      <a:pt x="1608" y="1517"/>
                      <a:pt x="1549" y="1491"/>
                      <a:pt x="1493" y="1491"/>
                    </a:cubicBezTo>
                    <a:cubicBezTo>
                      <a:pt x="1457" y="1491"/>
                      <a:pt x="1422" y="1502"/>
                      <a:pt x="1394" y="1525"/>
                    </a:cubicBezTo>
                    <a:cubicBezTo>
                      <a:pt x="1275" y="1620"/>
                      <a:pt x="1144" y="1668"/>
                      <a:pt x="989" y="1668"/>
                    </a:cubicBezTo>
                    <a:cubicBezTo>
                      <a:pt x="632" y="1668"/>
                      <a:pt x="358" y="1370"/>
                      <a:pt x="358" y="1025"/>
                    </a:cubicBezTo>
                    <a:cubicBezTo>
                      <a:pt x="382" y="668"/>
                      <a:pt x="668" y="370"/>
                      <a:pt x="1025" y="370"/>
                    </a:cubicBezTo>
                    <a:cubicBezTo>
                      <a:pt x="1382" y="370"/>
                      <a:pt x="1668" y="668"/>
                      <a:pt x="1668" y="1013"/>
                    </a:cubicBezTo>
                    <a:cubicBezTo>
                      <a:pt x="1668" y="1120"/>
                      <a:pt x="1739" y="1191"/>
                      <a:pt x="1846" y="1191"/>
                    </a:cubicBezTo>
                    <a:cubicBezTo>
                      <a:pt x="1942" y="1191"/>
                      <a:pt x="2025" y="1120"/>
                      <a:pt x="2025" y="1013"/>
                    </a:cubicBezTo>
                    <a:cubicBezTo>
                      <a:pt x="2025" y="453"/>
                      <a:pt x="1573" y="1"/>
                      <a:pt x="10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228;p31">
                <a:extLst>
                  <a:ext uri="{FF2B5EF4-FFF2-40B4-BE49-F238E27FC236}">
                    <a16:creationId xmlns:a16="http://schemas.microsoft.com/office/drawing/2014/main" id="{AC9E434B-79B9-E9C1-9018-AD918C2CEF19}"/>
                  </a:ext>
                </a:extLst>
              </p:cNvPr>
              <p:cNvSpPr/>
              <p:nvPr/>
            </p:nvSpPr>
            <p:spPr>
              <a:xfrm>
                <a:off x="6173634" y="2997631"/>
                <a:ext cx="70153" cy="70153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204" extrusionOk="0">
                    <a:moveTo>
                      <a:pt x="1096" y="370"/>
                    </a:moveTo>
                    <a:cubicBezTo>
                      <a:pt x="1501" y="370"/>
                      <a:pt x="1834" y="703"/>
                      <a:pt x="1834" y="1108"/>
                    </a:cubicBezTo>
                    <a:cubicBezTo>
                      <a:pt x="1834" y="1501"/>
                      <a:pt x="1501" y="1834"/>
                      <a:pt x="1096" y="1834"/>
                    </a:cubicBezTo>
                    <a:cubicBezTo>
                      <a:pt x="691" y="1834"/>
                      <a:pt x="370" y="1501"/>
                      <a:pt x="370" y="1108"/>
                    </a:cubicBezTo>
                    <a:cubicBezTo>
                      <a:pt x="370" y="703"/>
                      <a:pt x="703" y="370"/>
                      <a:pt x="1096" y="370"/>
                    </a:cubicBezTo>
                    <a:close/>
                    <a:moveTo>
                      <a:pt x="1096" y="1"/>
                    </a:moveTo>
                    <a:cubicBezTo>
                      <a:pt x="489" y="1"/>
                      <a:pt x="1" y="489"/>
                      <a:pt x="1" y="1108"/>
                    </a:cubicBezTo>
                    <a:cubicBezTo>
                      <a:pt x="1" y="1715"/>
                      <a:pt x="489" y="2203"/>
                      <a:pt x="1096" y="2203"/>
                    </a:cubicBezTo>
                    <a:cubicBezTo>
                      <a:pt x="1715" y="2191"/>
                      <a:pt x="2203" y="1703"/>
                      <a:pt x="2203" y="1108"/>
                    </a:cubicBezTo>
                    <a:cubicBezTo>
                      <a:pt x="2203" y="489"/>
                      <a:pt x="1715" y="1"/>
                      <a:pt x="10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" name="Google Shape;229;p31">
              <a:extLst>
                <a:ext uri="{FF2B5EF4-FFF2-40B4-BE49-F238E27FC236}">
                  <a16:creationId xmlns:a16="http://schemas.microsoft.com/office/drawing/2014/main" id="{B953AE68-3830-30EB-83AD-385E540DA3B7}"/>
                </a:ext>
              </a:extLst>
            </p:cNvPr>
            <p:cNvSpPr/>
            <p:nvPr/>
          </p:nvSpPr>
          <p:spPr>
            <a:xfrm>
              <a:off x="7334911" y="4549376"/>
              <a:ext cx="258000" cy="258000"/>
            </a:xfrm>
            <a:prstGeom prst="roundRect">
              <a:avLst>
                <a:gd name="adj" fmla="val 16667"/>
              </a:avLst>
            </a:prstGeom>
            <a:solidFill>
              <a:srgbClr val="B24EBE"/>
            </a:solidFill>
            <a:ln>
              <a:noFill/>
            </a:ln>
            <a:effectLst>
              <a:outerShdw blurRad="57150" dist="123825" dir="3300000" algn="bl" rotWithShape="0">
                <a:srgbClr val="CCCCCC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" name="Google Shape;230;p31">
              <a:extLst>
                <a:ext uri="{FF2B5EF4-FFF2-40B4-BE49-F238E27FC236}">
                  <a16:creationId xmlns:a16="http://schemas.microsoft.com/office/drawing/2014/main" id="{2095EE97-71AA-6B14-6AC5-9D1C31523D7D}"/>
                </a:ext>
              </a:extLst>
            </p:cNvPr>
            <p:cNvCxnSpPr>
              <a:stCxn id="106" idx="2"/>
              <a:endCxn id="109" idx="3"/>
            </p:cNvCxnSpPr>
            <p:nvPr/>
          </p:nvCxnSpPr>
          <p:spPr>
            <a:xfrm rot="5400000">
              <a:off x="6853868" y="3490584"/>
              <a:ext cx="1926600" cy="448800"/>
            </a:xfrm>
            <a:prstGeom prst="bentConnector2">
              <a:avLst/>
            </a:prstGeom>
            <a:noFill/>
            <a:ln w="9525" cap="flat" cmpd="sng">
              <a:solidFill>
                <a:srgbClr val="5C3DA4"/>
              </a:solidFill>
              <a:prstDash val="dash"/>
              <a:round/>
              <a:headEnd type="diamond" w="med" len="med"/>
              <a:tailEnd type="diamond" w="med" len="med"/>
            </a:ln>
          </p:spPr>
        </p:cxnSp>
        <p:grpSp>
          <p:nvGrpSpPr>
            <p:cNvPr id="111" name="Google Shape;231;p31">
              <a:extLst>
                <a:ext uri="{FF2B5EF4-FFF2-40B4-BE49-F238E27FC236}">
                  <a16:creationId xmlns:a16="http://schemas.microsoft.com/office/drawing/2014/main" id="{29E67B29-9EC4-2BA4-7589-6C1FDA8D1097}"/>
                </a:ext>
              </a:extLst>
            </p:cNvPr>
            <p:cNvGrpSpPr/>
            <p:nvPr/>
          </p:nvGrpSpPr>
          <p:grpSpPr>
            <a:xfrm>
              <a:off x="5381615" y="4368699"/>
              <a:ext cx="543457" cy="508555"/>
              <a:chOff x="2766264" y="3394042"/>
              <a:chExt cx="294874" cy="275934"/>
            </a:xfrm>
          </p:grpSpPr>
          <p:sp>
            <p:nvSpPr>
              <p:cNvPr id="112" name="Google Shape;232;p31">
                <a:extLst>
                  <a:ext uri="{FF2B5EF4-FFF2-40B4-BE49-F238E27FC236}">
                    <a16:creationId xmlns:a16="http://schemas.microsoft.com/office/drawing/2014/main" id="{7DB75245-407C-E74F-B35D-361644A9C9FC}"/>
                  </a:ext>
                </a:extLst>
              </p:cNvPr>
              <p:cNvSpPr/>
              <p:nvPr/>
            </p:nvSpPr>
            <p:spPr>
              <a:xfrm>
                <a:off x="3020554" y="3570348"/>
                <a:ext cx="19353" cy="18621"/>
              </a:xfrm>
              <a:custGeom>
                <a:avLst/>
                <a:gdLst/>
                <a:ahLst/>
                <a:cxnLst/>
                <a:rect l="l" t="t" r="r" b="b"/>
                <a:pathLst>
                  <a:path w="608" h="585" extrusionOk="0">
                    <a:moveTo>
                      <a:pt x="155" y="1"/>
                    </a:moveTo>
                    <a:cubicBezTo>
                      <a:pt x="123" y="1"/>
                      <a:pt x="90" y="16"/>
                      <a:pt x="60" y="46"/>
                    </a:cubicBezTo>
                    <a:cubicBezTo>
                      <a:pt x="1" y="105"/>
                      <a:pt x="1" y="176"/>
                      <a:pt x="60" y="236"/>
                    </a:cubicBezTo>
                    <a:lnTo>
                      <a:pt x="370" y="546"/>
                    </a:lnTo>
                    <a:cubicBezTo>
                      <a:pt x="397" y="572"/>
                      <a:pt x="431" y="585"/>
                      <a:pt x="463" y="585"/>
                    </a:cubicBezTo>
                    <a:cubicBezTo>
                      <a:pt x="503" y="585"/>
                      <a:pt x="541" y="566"/>
                      <a:pt x="560" y="534"/>
                    </a:cubicBezTo>
                    <a:cubicBezTo>
                      <a:pt x="608" y="498"/>
                      <a:pt x="608" y="403"/>
                      <a:pt x="560" y="355"/>
                    </a:cubicBezTo>
                    <a:lnTo>
                      <a:pt x="251" y="46"/>
                    </a:lnTo>
                    <a:cubicBezTo>
                      <a:pt x="221" y="16"/>
                      <a:pt x="188" y="1"/>
                      <a:pt x="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233;p31">
                <a:extLst>
                  <a:ext uri="{FF2B5EF4-FFF2-40B4-BE49-F238E27FC236}">
                    <a16:creationId xmlns:a16="http://schemas.microsoft.com/office/drawing/2014/main" id="{87A70FF0-47F3-7C8D-D8D3-0C74E18D216F}"/>
                  </a:ext>
                </a:extLst>
              </p:cNvPr>
              <p:cNvSpPr/>
              <p:nvPr/>
            </p:nvSpPr>
            <p:spPr>
              <a:xfrm>
                <a:off x="3019408" y="3475622"/>
                <a:ext cx="20499" cy="18875"/>
              </a:xfrm>
              <a:custGeom>
                <a:avLst/>
                <a:gdLst/>
                <a:ahLst/>
                <a:cxnLst/>
                <a:rect l="l" t="t" r="r" b="b"/>
                <a:pathLst>
                  <a:path w="644" h="593" extrusionOk="0">
                    <a:moveTo>
                      <a:pt x="501" y="0"/>
                    </a:moveTo>
                    <a:cubicBezTo>
                      <a:pt x="468" y="0"/>
                      <a:pt x="436" y="15"/>
                      <a:pt x="406" y="45"/>
                    </a:cubicBezTo>
                    <a:lnTo>
                      <a:pt x="96" y="355"/>
                    </a:lnTo>
                    <a:cubicBezTo>
                      <a:pt x="1" y="450"/>
                      <a:pt x="61" y="593"/>
                      <a:pt x="180" y="593"/>
                    </a:cubicBezTo>
                    <a:cubicBezTo>
                      <a:pt x="215" y="593"/>
                      <a:pt x="263" y="581"/>
                      <a:pt x="275" y="557"/>
                    </a:cubicBezTo>
                    <a:lnTo>
                      <a:pt x="584" y="235"/>
                    </a:lnTo>
                    <a:cubicBezTo>
                      <a:pt x="644" y="200"/>
                      <a:pt x="644" y="104"/>
                      <a:pt x="596" y="45"/>
                    </a:cubicBezTo>
                    <a:cubicBezTo>
                      <a:pt x="567" y="15"/>
                      <a:pt x="534" y="0"/>
                      <a:pt x="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234;p31">
                <a:extLst>
                  <a:ext uri="{FF2B5EF4-FFF2-40B4-BE49-F238E27FC236}">
                    <a16:creationId xmlns:a16="http://schemas.microsoft.com/office/drawing/2014/main" id="{0258C911-D3EA-E12C-980C-21E999984585}"/>
                  </a:ext>
                </a:extLst>
              </p:cNvPr>
              <p:cNvSpPr/>
              <p:nvPr/>
            </p:nvSpPr>
            <p:spPr>
              <a:xfrm>
                <a:off x="3039143" y="3528205"/>
                <a:ext cx="21995" cy="8753"/>
              </a:xfrm>
              <a:custGeom>
                <a:avLst/>
                <a:gdLst/>
                <a:ahLst/>
                <a:cxnLst/>
                <a:rect l="l" t="t" r="r" b="b"/>
                <a:pathLst>
                  <a:path w="691" h="275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31"/>
                    </a:cubicBezTo>
                    <a:cubicBezTo>
                      <a:pt x="0" y="215"/>
                      <a:pt x="60" y="274"/>
                      <a:pt x="131" y="274"/>
                    </a:cubicBezTo>
                    <a:lnTo>
                      <a:pt x="560" y="274"/>
                    </a:lnTo>
                    <a:cubicBezTo>
                      <a:pt x="631" y="274"/>
                      <a:pt x="691" y="215"/>
                      <a:pt x="691" y="131"/>
                    </a:cubicBezTo>
                    <a:cubicBezTo>
                      <a:pt x="691" y="60"/>
                      <a:pt x="631" y="0"/>
                      <a:pt x="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235;p31">
                <a:extLst>
                  <a:ext uri="{FF2B5EF4-FFF2-40B4-BE49-F238E27FC236}">
                    <a16:creationId xmlns:a16="http://schemas.microsoft.com/office/drawing/2014/main" id="{49DF1C2D-BA12-C32C-F3CB-80413627084E}"/>
                  </a:ext>
                </a:extLst>
              </p:cNvPr>
              <p:cNvSpPr/>
              <p:nvPr/>
            </p:nvSpPr>
            <p:spPr>
              <a:xfrm>
                <a:off x="2766264" y="3394042"/>
                <a:ext cx="253176" cy="275934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8669" extrusionOk="0">
                    <a:moveTo>
                      <a:pt x="6942" y="3489"/>
                    </a:moveTo>
                    <a:cubicBezTo>
                      <a:pt x="7371" y="3549"/>
                      <a:pt x="7692" y="3918"/>
                      <a:pt x="7692" y="4346"/>
                    </a:cubicBezTo>
                    <a:cubicBezTo>
                      <a:pt x="7692" y="4799"/>
                      <a:pt x="7382" y="5156"/>
                      <a:pt x="6942" y="5227"/>
                    </a:cubicBezTo>
                    <a:lnTo>
                      <a:pt x="6942" y="3489"/>
                    </a:lnTo>
                    <a:close/>
                    <a:moveTo>
                      <a:pt x="1013" y="3322"/>
                    </a:moveTo>
                    <a:lnTo>
                      <a:pt x="1013" y="5382"/>
                    </a:lnTo>
                    <a:lnTo>
                      <a:pt x="715" y="5382"/>
                    </a:lnTo>
                    <a:cubicBezTo>
                      <a:pt x="465" y="5382"/>
                      <a:pt x="263" y="5180"/>
                      <a:pt x="263" y="4930"/>
                    </a:cubicBezTo>
                    <a:lnTo>
                      <a:pt x="263" y="3775"/>
                    </a:lnTo>
                    <a:cubicBezTo>
                      <a:pt x="263" y="3537"/>
                      <a:pt x="453" y="3322"/>
                      <a:pt x="715" y="3322"/>
                    </a:cubicBezTo>
                    <a:close/>
                    <a:moveTo>
                      <a:pt x="2179" y="3322"/>
                    </a:moveTo>
                    <a:lnTo>
                      <a:pt x="2179" y="5382"/>
                    </a:lnTo>
                    <a:lnTo>
                      <a:pt x="1286" y="5382"/>
                    </a:lnTo>
                    <a:lnTo>
                      <a:pt x="1286" y="3322"/>
                    </a:lnTo>
                    <a:close/>
                    <a:moveTo>
                      <a:pt x="2322" y="6370"/>
                    </a:moveTo>
                    <a:lnTo>
                      <a:pt x="2322" y="6966"/>
                    </a:lnTo>
                    <a:lnTo>
                      <a:pt x="2060" y="6966"/>
                    </a:lnTo>
                    <a:lnTo>
                      <a:pt x="2227" y="6370"/>
                    </a:lnTo>
                    <a:close/>
                    <a:moveTo>
                      <a:pt x="2144" y="5644"/>
                    </a:moveTo>
                    <a:lnTo>
                      <a:pt x="1632" y="7549"/>
                    </a:lnTo>
                    <a:lnTo>
                      <a:pt x="1286" y="7549"/>
                    </a:lnTo>
                    <a:lnTo>
                      <a:pt x="1286" y="5644"/>
                    </a:lnTo>
                    <a:close/>
                    <a:moveTo>
                      <a:pt x="6680" y="274"/>
                    </a:moveTo>
                    <a:lnTo>
                      <a:pt x="6680" y="8430"/>
                    </a:lnTo>
                    <a:lnTo>
                      <a:pt x="6085" y="8430"/>
                    </a:lnTo>
                    <a:lnTo>
                      <a:pt x="6085" y="2703"/>
                    </a:lnTo>
                    <a:cubicBezTo>
                      <a:pt x="6085" y="2620"/>
                      <a:pt x="6025" y="2560"/>
                      <a:pt x="5954" y="2560"/>
                    </a:cubicBezTo>
                    <a:cubicBezTo>
                      <a:pt x="5870" y="2560"/>
                      <a:pt x="5811" y="2620"/>
                      <a:pt x="5811" y="2703"/>
                    </a:cubicBezTo>
                    <a:lnTo>
                      <a:pt x="5811" y="7549"/>
                    </a:lnTo>
                    <a:cubicBezTo>
                      <a:pt x="5632" y="7311"/>
                      <a:pt x="5382" y="6989"/>
                      <a:pt x="5037" y="6668"/>
                    </a:cubicBezTo>
                    <a:cubicBezTo>
                      <a:pt x="4668" y="6299"/>
                      <a:pt x="4263" y="6013"/>
                      <a:pt x="3870" y="5799"/>
                    </a:cubicBezTo>
                    <a:cubicBezTo>
                      <a:pt x="3406" y="5561"/>
                      <a:pt x="2930" y="5418"/>
                      <a:pt x="2453" y="5394"/>
                    </a:cubicBezTo>
                    <a:lnTo>
                      <a:pt x="2453" y="3322"/>
                    </a:lnTo>
                    <a:cubicBezTo>
                      <a:pt x="2930" y="3310"/>
                      <a:pt x="3406" y="3179"/>
                      <a:pt x="3870" y="2918"/>
                    </a:cubicBezTo>
                    <a:cubicBezTo>
                      <a:pt x="4263" y="2715"/>
                      <a:pt x="4668" y="2417"/>
                      <a:pt x="5037" y="2048"/>
                    </a:cubicBezTo>
                    <a:cubicBezTo>
                      <a:pt x="5370" y="1715"/>
                      <a:pt x="5632" y="1394"/>
                      <a:pt x="5811" y="1167"/>
                    </a:cubicBezTo>
                    <a:lnTo>
                      <a:pt x="5811" y="2025"/>
                    </a:lnTo>
                    <a:cubicBezTo>
                      <a:pt x="5811" y="2108"/>
                      <a:pt x="5870" y="2167"/>
                      <a:pt x="5954" y="2167"/>
                    </a:cubicBezTo>
                    <a:cubicBezTo>
                      <a:pt x="6025" y="2167"/>
                      <a:pt x="6085" y="2108"/>
                      <a:pt x="6085" y="2025"/>
                    </a:cubicBezTo>
                    <a:lnTo>
                      <a:pt x="6085" y="274"/>
                    </a:lnTo>
                    <a:close/>
                    <a:moveTo>
                      <a:pt x="5930" y="0"/>
                    </a:moveTo>
                    <a:cubicBezTo>
                      <a:pt x="5858" y="0"/>
                      <a:pt x="5799" y="60"/>
                      <a:pt x="5799" y="143"/>
                    </a:cubicBezTo>
                    <a:lnTo>
                      <a:pt x="5799" y="679"/>
                    </a:lnTo>
                    <a:cubicBezTo>
                      <a:pt x="5728" y="810"/>
                      <a:pt x="5370" y="1334"/>
                      <a:pt x="4835" y="1846"/>
                    </a:cubicBezTo>
                    <a:cubicBezTo>
                      <a:pt x="4263" y="2382"/>
                      <a:pt x="3370" y="3037"/>
                      <a:pt x="2299" y="3037"/>
                    </a:cubicBezTo>
                    <a:lnTo>
                      <a:pt x="715" y="3037"/>
                    </a:lnTo>
                    <a:cubicBezTo>
                      <a:pt x="310" y="3037"/>
                      <a:pt x="1" y="3370"/>
                      <a:pt x="1" y="3751"/>
                    </a:cubicBezTo>
                    <a:lnTo>
                      <a:pt x="1" y="4918"/>
                    </a:lnTo>
                    <a:cubicBezTo>
                      <a:pt x="1" y="5323"/>
                      <a:pt x="322" y="5632"/>
                      <a:pt x="715" y="5632"/>
                    </a:cubicBezTo>
                    <a:lnTo>
                      <a:pt x="1013" y="5632"/>
                    </a:lnTo>
                    <a:lnTo>
                      <a:pt x="1013" y="7668"/>
                    </a:lnTo>
                    <a:cubicBezTo>
                      <a:pt x="1013" y="7740"/>
                      <a:pt x="1072" y="7799"/>
                      <a:pt x="1144" y="7799"/>
                    </a:cubicBezTo>
                    <a:lnTo>
                      <a:pt x="1727" y="7799"/>
                    </a:lnTo>
                    <a:cubicBezTo>
                      <a:pt x="1787" y="7799"/>
                      <a:pt x="1846" y="7763"/>
                      <a:pt x="1858" y="7692"/>
                    </a:cubicBezTo>
                    <a:lnTo>
                      <a:pt x="1989" y="7216"/>
                    </a:lnTo>
                    <a:lnTo>
                      <a:pt x="2453" y="7216"/>
                    </a:lnTo>
                    <a:cubicBezTo>
                      <a:pt x="2525" y="7216"/>
                      <a:pt x="2584" y="7156"/>
                      <a:pt x="2584" y="7085"/>
                    </a:cubicBezTo>
                    <a:lnTo>
                      <a:pt x="2584" y="6204"/>
                    </a:lnTo>
                    <a:cubicBezTo>
                      <a:pt x="2584" y="6132"/>
                      <a:pt x="2525" y="6073"/>
                      <a:pt x="2453" y="6073"/>
                    </a:cubicBezTo>
                    <a:lnTo>
                      <a:pt x="2287" y="6073"/>
                    </a:lnTo>
                    <a:lnTo>
                      <a:pt x="2406" y="5632"/>
                    </a:lnTo>
                    <a:cubicBezTo>
                      <a:pt x="3430" y="5668"/>
                      <a:pt x="4299" y="6299"/>
                      <a:pt x="4835" y="6823"/>
                    </a:cubicBezTo>
                    <a:cubicBezTo>
                      <a:pt x="5370" y="7335"/>
                      <a:pt x="5704" y="7859"/>
                      <a:pt x="5799" y="7990"/>
                    </a:cubicBezTo>
                    <a:lnTo>
                      <a:pt x="5799" y="8525"/>
                    </a:lnTo>
                    <a:cubicBezTo>
                      <a:pt x="5799" y="8609"/>
                      <a:pt x="5858" y="8668"/>
                      <a:pt x="5930" y="8668"/>
                    </a:cubicBezTo>
                    <a:lnTo>
                      <a:pt x="6811" y="8668"/>
                    </a:lnTo>
                    <a:cubicBezTo>
                      <a:pt x="6882" y="8668"/>
                      <a:pt x="6942" y="8609"/>
                      <a:pt x="6942" y="8525"/>
                    </a:cubicBezTo>
                    <a:lnTo>
                      <a:pt x="6942" y="5465"/>
                    </a:lnTo>
                    <a:cubicBezTo>
                      <a:pt x="7525" y="5394"/>
                      <a:pt x="7954" y="4918"/>
                      <a:pt x="7954" y="4322"/>
                    </a:cubicBezTo>
                    <a:cubicBezTo>
                      <a:pt x="7954" y="3775"/>
                      <a:pt x="7525" y="3275"/>
                      <a:pt x="6942" y="3203"/>
                    </a:cubicBezTo>
                    <a:lnTo>
                      <a:pt x="6942" y="143"/>
                    </a:lnTo>
                    <a:cubicBezTo>
                      <a:pt x="6942" y="60"/>
                      <a:pt x="6882" y="0"/>
                      <a:pt x="68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525969-B927-7A97-8859-275C47EF6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242" y="2300748"/>
            <a:ext cx="3518443" cy="181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33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9441" y="182880"/>
            <a:ext cx="6543487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 err="1"/>
              <a:t>Sommaire</a:t>
            </a:r>
            <a:endParaRPr lang="fr-FR" u="sng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1. </a:t>
            </a:r>
            <a:r>
              <a:rPr sz="2000" u="sng" err="1"/>
              <a:t>Contexte</a:t>
            </a:r>
            <a:r>
              <a:rPr sz="2000" u="sng"/>
              <a:t> &amp; </a:t>
            </a:r>
            <a:r>
              <a:rPr sz="2000" u="sng" err="1"/>
              <a:t>Objectifs</a:t>
            </a:r>
            <a:endParaRPr sz="2000" u="sng"/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Problématique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, cahier des charges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2. </a:t>
            </a:r>
            <a:r>
              <a:rPr sz="2000" u="sng" err="1"/>
              <a:t>Méthodologie</a:t>
            </a:r>
            <a:endParaRPr sz="2000" u="sng"/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>
                    <a:lumMod val="95000"/>
                  </a:schemeClr>
                </a:solidFill>
              </a:rPr>
              <a:t>Scrum, phases du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projet</a:t>
            </a:r>
            <a:endParaRPr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3. Stack Technique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>
                    <a:lumMod val="95000"/>
                  </a:schemeClr>
                </a:solidFill>
              </a:rPr>
              <a:t>Technologies &amp;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contraintes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STx</a:t>
            </a:r>
            <a:endParaRPr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4. Architecture MVC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Organisation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du code (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STx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20040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5. Base de Données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>
                    <a:lumMod val="95000"/>
                  </a:schemeClr>
                </a:solidFill>
              </a:rPr>
              <a:t>MCD, tables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relationnelles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STx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8</a:t>
            </a:r>
            <a:r>
              <a:rPr lang="fr-FR" sz="1600">
                <a:solidFill>
                  <a:schemeClr val="bg1">
                    <a:lumMod val="95000"/>
                  </a:schemeClr>
                </a:solidFill>
              </a:rPr>
              <a:t>)</a:t>
            </a:r>
            <a:endParaRPr sz="1600"/>
          </a:p>
        </p:txBody>
      </p:sp>
      <p:sp>
        <p:nvSpPr>
          <p:cNvPr id="9" name="Rounded Rectangle 8"/>
          <p:cNvSpPr/>
          <p:nvPr/>
        </p:nvSpPr>
        <p:spPr>
          <a:xfrm>
            <a:off x="8046720" y="320040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6. </a:t>
            </a:r>
            <a:r>
              <a:rPr sz="2000" u="sng" err="1"/>
              <a:t>Rôles</a:t>
            </a:r>
            <a:r>
              <a:rPr sz="2000" u="sng"/>
              <a:t> &amp; Permissions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>
                    <a:lumMod val="95000"/>
                  </a:schemeClr>
                </a:solidFill>
              </a:rPr>
              <a:t>Matrice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d'accès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(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SFx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u="sng"/>
              <a:t>7. </a:t>
            </a:r>
            <a:r>
              <a:rPr sz="2000" u="sng" err="1"/>
              <a:t>Spécifications</a:t>
            </a:r>
            <a:r>
              <a:rPr sz="2000" u="sng"/>
              <a:t> </a:t>
            </a:r>
            <a:r>
              <a:rPr sz="2000" u="sng" err="1"/>
              <a:t>fonctionnelles</a:t>
            </a:r>
            <a:endParaRPr sz="2000" u="sng"/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SFx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2 à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SFx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75488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2000" u="sng"/>
              <a:t>8. Sécurité &amp; </a:t>
            </a:r>
            <a:r>
              <a:rPr lang="fr-FR" sz="2000" u="sng" err="1"/>
              <a:t>Qualité</a:t>
            </a:r>
            <a:endParaRPr lang="fr-FR" sz="2000" u="sng"/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STx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11, tests, SEO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754880"/>
            <a:ext cx="338328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2000" u="sng"/>
              <a:t>9. </a:t>
            </a:r>
            <a:r>
              <a:rPr lang="fr-FR" sz="2000" u="sng" err="1"/>
              <a:t>Démo</a:t>
            </a:r>
            <a:r>
              <a:rPr lang="fr-FR" sz="2000" u="sng"/>
              <a:t> &amp; Conclusion</a:t>
            </a:r>
          </a:p>
          <a:p>
            <a:pPr algn="ctr"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Démonstration</a:t>
            </a:r>
            <a:r>
              <a:rPr sz="1600">
                <a:solidFill>
                  <a:schemeClr val="bg1">
                    <a:lumMod val="95000"/>
                  </a:schemeClr>
                </a:solidFill>
              </a:rPr>
              <a:t> live + </a:t>
            </a:r>
            <a:r>
              <a:rPr sz="1600" err="1">
                <a:solidFill>
                  <a:schemeClr val="bg1">
                    <a:lumMod val="95000"/>
                  </a:schemeClr>
                </a:solidFill>
              </a:rPr>
              <a:t>bilan</a:t>
            </a:r>
            <a:endParaRPr sz="160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3D4298E-135E-8D22-E707-D534BF36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476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8061" y="267689"/>
            <a:ext cx="3103061" cy="5232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sz="4000" u="sng" err="1"/>
              <a:t>Contexte</a:t>
            </a:r>
            <a:r>
              <a:rPr lang="fr-FR" u="sng"/>
              <a:t> &amp; </a:t>
            </a:r>
            <a:r>
              <a:rPr lang="fr-FR" u="sng" err="1"/>
              <a:t>Objectifs</a:t>
            </a:r>
            <a:endParaRPr lang="fr-FR" u="sng"/>
          </a:p>
        </p:txBody>
      </p:sp>
      <p:sp>
        <p:nvSpPr>
          <p:cNvPr id="4" name="TextBox 3"/>
          <p:cNvSpPr txBox="1"/>
          <p:nvPr/>
        </p:nvSpPr>
        <p:spPr>
          <a:xfrm>
            <a:off x="731520" y="1544065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sz="2000" err="1">
                <a:solidFill>
                  <a:schemeClr val="bg1">
                    <a:lumMod val="95000"/>
                  </a:schemeClr>
                </a:solidFill>
              </a:rPr>
              <a:t>Informatiser</a:t>
            </a:r>
            <a:r>
              <a:rPr sz="2000">
                <a:solidFill>
                  <a:schemeClr val="bg1">
                    <a:lumMod val="95000"/>
                  </a:schemeClr>
                </a:solidFill>
              </a:rPr>
              <a:t> et </a:t>
            </a:r>
            <a:r>
              <a:rPr sz="2000" err="1">
                <a:solidFill>
                  <a:schemeClr val="bg1">
                    <a:lumMod val="95000"/>
                  </a:schemeClr>
                </a:solidFill>
              </a:rPr>
              <a:t>centraliser</a:t>
            </a:r>
            <a:r>
              <a:rPr sz="2000">
                <a:solidFill>
                  <a:schemeClr val="bg1">
                    <a:lumMod val="95000"/>
                  </a:schemeClr>
                </a:solidFill>
              </a:rPr>
              <a:t> la recherche de stages pour les </a:t>
            </a:r>
            <a:r>
              <a:rPr sz="2000" err="1">
                <a:solidFill>
                  <a:schemeClr val="bg1">
                    <a:lumMod val="95000"/>
                  </a:schemeClr>
                </a:solidFill>
              </a:rPr>
              <a:t>étudiants</a:t>
            </a:r>
            <a:r>
              <a:rPr sz="2000">
                <a:solidFill>
                  <a:schemeClr val="bg1">
                    <a:lumMod val="95000"/>
                  </a:schemeClr>
                </a:solidFill>
              </a:rPr>
              <a:t> du CESI</a:t>
            </a:r>
            <a:r>
              <a:rPr lang="fr-FR" sz="2000">
                <a:solidFill>
                  <a:schemeClr val="bg1">
                    <a:lumMod val="95000"/>
                  </a:schemeClr>
                </a:solidFill>
              </a:rPr>
              <a:t>.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267290" y="211327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rPr sz="2800"/>
              <a:t>✖  </a:t>
            </a:r>
            <a:r>
              <a:rPr sz="2800" err="1"/>
              <a:t>Problématique</a:t>
            </a: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219948" y="2805591"/>
            <a:ext cx="628273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EF4444"/>
                </a:solidFill>
                <a:latin typeface="Segoe UI"/>
              </a:rPr>
              <a:t>✗  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Recherche de stages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dispersée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(LinkedIn...)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EF4444"/>
                </a:solidFill>
                <a:latin typeface="Segoe UI"/>
              </a:rPr>
              <a:t>✗  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Pas de base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centralisée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des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entreprises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partenaires</a:t>
            </a:r>
            <a:endParaRPr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FF0000"/>
                </a:solidFill>
                <a:latin typeface="Segoe UI"/>
              </a:rPr>
              <a:t>✗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Suivi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des candidatures difficile pour les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pilotes</a:t>
            </a:r>
            <a:endParaRPr>
              <a:solidFill>
                <a:schemeClr val="bg1">
                  <a:lumMod val="95000"/>
                </a:schemeClr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FF0000"/>
                </a:solidFill>
                <a:latin typeface="Segoe UI"/>
              </a:rPr>
              <a:t>✗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Aucune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correspondance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offres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/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compétences</a:t>
            </a:r>
            <a:r>
              <a:rPr>
                <a:solidFill>
                  <a:schemeClr val="bg1">
                    <a:lumMod val="95000"/>
                  </a:schemeClr>
                </a:solidFill>
                <a:latin typeface="Segoe UI"/>
              </a:rPr>
              <a:t> </a:t>
            </a:r>
            <a:r>
              <a:rPr err="1">
                <a:solidFill>
                  <a:schemeClr val="bg1">
                    <a:lumMod val="95000"/>
                  </a:schemeClr>
                </a:solidFill>
                <a:latin typeface="Segoe UI"/>
              </a:rPr>
              <a:t>étudiants</a:t>
            </a:r>
            <a:endParaRPr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20718" y="211327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Segoe UI"/>
              </a:defRPr>
            </a:pPr>
            <a:r>
              <a:rPr sz="2800"/>
              <a:t>✔  Solution : CESI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0718" y="2805591"/>
            <a:ext cx="5590572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  </a:t>
            </a:r>
            <a:r>
              <a:rPr>
                <a:solidFill>
                  <a:schemeClr val="bg1"/>
                </a:solidFill>
                <a:latin typeface="Segoe UI"/>
              </a:rPr>
              <a:t>Site web </a:t>
            </a:r>
            <a:r>
              <a:rPr err="1">
                <a:solidFill>
                  <a:schemeClr val="bg1"/>
                </a:solidFill>
                <a:latin typeface="Segoe UI"/>
              </a:rPr>
              <a:t>centralisant</a:t>
            </a:r>
            <a:r>
              <a:rPr>
                <a:solidFill>
                  <a:schemeClr val="bg1"/>
                </a:solidFill>
                <a:latin typeface="Segoe UI"/>
              </a:rPr>
              <a:t> les </a:t>
            </a:r>
            <a:r>
              <a:rPr err="1">
                <a:solidFill>
                  <a:schemeClr val="bg1"/>
                </a:solidFill>
                <a:latin typeface="Segoe UI"/>
              </a:rPr>
              <a:t>offres</a:t>
            </a:r>
            <a:r>
              <a:rPr>
                <a:solidFill>
                  <a:schemeClr val="bg1"/>
                </a:solidFill>
                <a:latin typeface="Segoe UI"/>
              </a:rPr>
              <a:t> par </a:t>
            </a:r>
            <a:r>
              <a:rPr err="1">
                <a:solidFill>
                  <a:schemeClr val="bg1"/>
                </a:solidFill>
                <a:latin typeface="Segoe UI"/>
              </a:rPr>
              <a:t>compétences</a:t>
            </a:r>
            <a:endParaRPr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</a:t>
            </a:r>
            <a:r>
              <a:rPr>
                <a:solidFill>
                  <a:schemeClr val="bg1"/>
                </a:solidFill>
                <a:latin typeface="Segoe UI"/>
              </a:rPr>
              <a:t>  Fiches </a:t>
            </a:r>
            <a:r>
              <a:rPr err="1">
                <a:solidFill>
                  <a:schemeClr val="bg1"/>
                </a:solidFill>
                <a:latin typeface="Segoe UI"/>
              </a:rPr>
              <a:t>entreprises</a:t>
            </a:r>
            <a:r>
              <a:rPr>
                <a:solidFill>
                  <a:schemeClr val="bg1"/>
                </a:solidFill>
                <a:latin typeface="Segoe UI"/>
              </a:rPr>
              <a:t> avec </a:t>
            </a:r>
            <a:r>
              <a:rPr err="1">
                <a:solidFill>
                  <a:schemeClr val="bg1"/>
                </a:solidFill>
                <a:latin typeface="Segoe UI"/>
              </a:rPr>
              <a:t>évaluations</a:t>
            </a:r>
            <a:r>
              <a:rPr>
                <a:solidFill>
                  <a:schemeClr val="bg1"/>
                </a:solidFill>
                <a:latin typeface="Segoe UI"/>
              </a:rPr>
              <a:t> et </a:t>
            </a:r>
            <a:r>
              <a:rPr err="1">
                <a:solidFill>
                  <a:schemeClr val="bg1"/>
                </a:solidFill>
                <a:latin typeface="Segoe UI"/>
              </a:rPr>
              <a:t>historique</a:t>
            </a:r>
            <a:endParaRPr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</a:t>
            </a:r>
            <a:r>
              <a:rPr>
                <a:solidFill>
                  <a:schemeClr val="bg1"/>
                </a:solidFill>
                <a:latin typeface="Segoe UI"/>
              </a:rPr>
              <a:t>  Candidature avec CV et </a:t>
            </a:r>
            <a:r>
              <a:rPr err="1">
                <a:solidFill>
                  <a:schemeClr val="bg1"/>
                </a:solidFill>
                <a:latin typeface="Segoe UI"/>
              </a:rPr>
              <a:t>lettre</a:t>
            </a:r>
            <a:r>
              <a:rPr>
                <a:solidFill>
                  <a:schemeClr val="bg1"/>
                </a:solidFill>
                <a:latin typeface="Segoe UI"/>
              </a:rPr>
              <a:t> de motivation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</a:t>
            </a:r>
            <a:r>
              <a:rPr>
                <a:solidFill>
                  <a:schemeClr val="bg1"/>
                </a:solidFill>
                <a:latin typeface="Segoe UI"/>
              </a:rPr>
              <a:t>  Interfaces </a:t>
            </a:r>
            <a:r>
              <a:rPr err="1">
                <a:solidFill>
                  <a:schemeClr val="bg1"/>
                </a:solidFill>
                <a:latin typeface="Segoe UI"/>
              </a:rPr>
              <a:t>adaptées</a:t>
            </a:r>
            <a:r>
              <a:rPr>
                <a:solidFill>
                  <a:schemeClr val="bg1"/>
                </a:solidFill>
                <a:latin typeface="Segoe UI"/>
              </a:rPr>
              <a:t> par </a:t>
            </a:r>
            <a:r>
              <a:rPr err="1">
                <a:solidFill>
                  <a:schemeClr val="bg1"/>
                </a:solidFill>
                <a:latin typeface="Segoe UI"/>
              </a:rPr>
              <a:t>profil</a:t>
            </a:r>
            <a:r>
              <a:rPr>
                <a:solidFill>
                  <a:schemeClr val="bg1"/>
                </a:solidFill>
                <a:latin typeface="Segoe UI"/>
              </a:rPr>
              <a:t> (admin, </a:t>
            </a:r>
            <a:r>
              <a:rPr err="1">
                <a:solidFill>
                  <a:schemeClr val="bg1"/>
                </a:solidFill>
                <a:latin typeface="Segoe UI"/>
              </a:rPr>
              <a:t>pilote</a:t>
            </a:r>
            <a:r>
              <a:rPr>
                <a:solidFill>
                  <a:schemeClr val="bg1"/>
                </a:solidFill>
                <a:latin typeface="Segoe UI"/>
              </a:rPr>
              <a:t>, </a:t>
            </a:r>
            <a:r>
              <a:rPr err="1">
                <a:solidFill>
                  <a:schemeClr val="bg1"/>
                </a:solidFill>
                <a:latin typeface="Segoe UI"/>
              </a:rPr>
              <a:t>étudiant</a:t>
            </a:r>
            <a:r>
              <a:rPr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</a:t>
            </a:r>
            <a:r>
              <a:rPr>
                <a:solidFill>
                  <a:schemeClr val="bg1"/>
                </a:solidFill>
                <a:latin typeface="Segoe UI"/>
              </a:rPr>
              <a:t>  Wish-list pour </a:t>
            </a:r>
            <a:r>
              <a:rPr err="1">
                <a:solidFill>
                  <a:schemeClr val="bg1"/>
                </a:solidFill>
                <a:latin typeface="Segoe UI"/>
              </a:rPr>
              <a:t>sauvegarder</a:t>
            </a:r>
            <a:r>
              <a:rPr>
                <a:solidFill>
                  <a:schemeClr val="bg1"/>
                </a:solidFill>
                <a:latin typeface="Segoe UI"/>
              </a:rPr>
              <a:t> les </a:t>
            </a:r>
            <a:r>
              <a:rPr err="1">
                <a:solidFill>
                  <a:schemeClr val="bg1"/>
                </a:solidFill>
                <a:latin typeface="Segoe UI"/>
              </a:rPr>
              <a:t>offres</a:t>
            </a:r>
            <a:r>
              <a:rPr>
                <a:solidFill>
                  <a:schemeClr val="bg1"/>
                </a:solidFill>
                <a:latin typeface="Segoe UI"/>
              </a:rPr>
              <a:t> </a:t>
            </a:r>
            <a:r>
              <a:rPr err="1">
                <a:solidFill>
                  <a:schemeClr val="bg1"/>
                </a:solidFill>
                <a:latin typeface="Segoe UI"/>
              </a:rPr>
              <a:t>d'intérêt</a:t>
            </a:r>
            <a:endParaRPr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>
                <a:solidFill>
                  <a:srgbClr val="22C55E"/>
                </a:solidFill>
                <a:latin typeface="Segoe UI"/>
              </a:rPr>
              <a:t>✓</a:t>
            </a:r>
            <a:r>
              <a:rPr>
                <a:solidFill>
                  <a:schemeClr val="bg1"/>
                </a:solidFill>
                <a:latin typeface="Segoe UI"/>
              </a:rPr>
              <a:t>  Responsive design + </a:t>
            </a:r>
            <a:r>
              <a:rPr err="1">
                <a:solidFill>
                  <a:schemeClr val="bg1"/>
                </a:solidFill>
                <a:latin typeface="Segoe UI"/>
              </a:rPr>
              <a:t>conformité</a:t>
            </a:r>
            <a:r>
              <a:rPr>
                <a:solidFill>
                  <a:schemeClr val="bg1"/>
                </a:solidFill>
                <a:latin typeface="Segoe UI"/>
              </a:rPr>
              <a:t> </a:t>
            </a:r>
            <a:r>
              <a:rPr err="1">
                <a:solidFill>
                  <a:schemeClr val="bg1"/>
                </a:solidFill>
                <a:latin typeface="Segoe UI"/>
              </a:rPr>
              <a:t>légale</a:t>
            </a:r>
            <a:endParaRPr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A5A345B-3A30-7921-AD77-10BABF31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3648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85540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sz="4000" u="sng"/>
              <a:t>Méthodologie &amp; Phases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1864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Approche</a:t>
            </a:r>
            <a:r>
              <a:rPr>
                <a:solidFill>
                  <a:schemeClr val="bg1"/>
                </a:solidFill>
              </a:rPr>
              <a:t> Scrum avec sprints </a:t>
            </a:r>
            <a:r>
              <a:rPr err="1">
                <a:solidFill>
                  <a:schemeClr val="bg1"/>
                </a:solidFill>
              </a:rPr>
              <a:t>progressifs</a:t>
            </a:r>
            <a:r>
              <a:rPr>
                <a:solidFill>
                  <a:schemeClr val="bg1"/>
                </a:solidFill>
              </a:rPr>
              <a:t> sur </a:t>
            </a:r>
            <a:r>
              <a:rPr err="1">
                <a:solidFill>
                  <a:schemeClr val="bg1"/>
                </a:solidFill>
              </a:rPr>
              <a:t>l'ensemble</a:t>
            </a:r>
            <a:r>
              <a:rPr>
                <a:solidFill>
                  <a:schemeClr val="bg1"/>
                </a:solidFill>
              </a:rPr>
              <a:t> du bloc.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65468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sz="3000"/>
              <a:t>Phase 1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 err="1"/>
              <a:t>Lancement</a:t>
            </a:r>
            <a:endParaRPr sz="1400" u="sng"/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Scrum, backlog,</a:t>
            </a:r>
            <a:br>
              <a:rPr sz="1100">
                <a:solidFill>
                  <a:schemeClr val="bg1"/>
                </a:solidFill>
              </a:rPr>
            </a:br>
            <a:r>
              <a:rPr sz="1100" err="1">
                <a:solidFill>
                  <a:schemeClr val="bg1"/>
                </a:solidFill>
              </a:rPr>
              <a:t>répartition</a:t>
            </a:r>
            <a:r>
              <a:rPr sz="1100">
                <a:solidFill>
                  <a:schemeClr val="bg1"/>
                </a:solidFill>
              </a:rPr>
              <a:t> </a:t>
            </a:r>
            <a:r>
              <a:rPr sz="1100" err="1">
                <a:solidFill>
                  <a:schemeClr val="bg1"/>
                </a:solidFill>
              </a:rPr>
              <a:t>rôles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77440" y="2820873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sz="3000"/>
              <a:t>Phase 2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 err="1"/>
              <a:t>Maquettage</a:t>
            </a:r>
            <a:br>
              <a:rPr sz="1400" u="sng"/>
            </a:br>
            <a:r>
              <a:rPr sz="1400" u="sng"/>
              <a:t>+ Front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Wireframes,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mobile-first, HTML/CSS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65468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sz="3000"/>
              <a:t>Phase 3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/>
              <a:t>Backend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Dev PHP,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architecture MVC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820873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sz="3000"/>
              <a:t>Phase 4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/>
              <a:t>BDD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MCD, </a:t>
            </a:r>
            <a:r>
              <a:rPr sz="1100" err="1">
                <a:solidFill>
                  <a:schemeClr val="bg1"/>
                </a:solidFill>
              </a:rPr>
              <a:t>création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tables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65468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lang="fr-FR" sz="3000"/>
              <a:t>Phase 5</a:t>
            </a:r>
            <a:endParaRPr sz="3000"/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/>
              <a:t>Backend</a:t>
            </a:r>
            <a:br>
              <a:rPr sz="1400" u="sng"/>
            </a:br>
            <a:r>
              <a:rPr sz="1100" u="sng"/>
              <a:t>(suite)</a:t>
            </a:r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Auth, BDD,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tests </a:t>
            </a:r>
            <a:r>
              <a:rPr sz="1100" err="1">
                <a:solidFill>
                  <a:schemeClr val="bg1"/>
                </a:solidFill>
              </a:rPr>
              <a:t>unitaires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058400" y="2820873"/>
            <a:ext cx="1737360" cy="18288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6366F1"/>
                </a:solidFill>
                <a:latin typeface="Segoe UI"/>
              </a:defRPr>
            </a:pPr>
            <a:r>
              <a:rPr sz="3000"/>
              <a:t>Phase 6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 u="sng" err="1"/>
              <a:t>Finalisation</a:t>
            </a:r>
            <a:endParaRPr sz="1400" u="sng"/>
          </a:p>
          <a:p>
            <a:pPr algn="ctr">
              <a:spcBef>
                <a:spcPts val="6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100">
                <a:solidFill>
                  <a:schemeClr val="bg1"/>
                </a:solidFill>
              </a:rPr>
              <a:t>JavaScript,</a:t>
            </a:r>
            <a:br>
              <a:rPr sz="1100">
                <a:solidFill>
                  <a:schemeClr val="bg1"/>
                </a:solidFill>
              </a:rPr>
            </a:br>
            <a:r>
              <a:rPr sz="1100">
                <a:solidFill>
                  <a:schemeClr val="bg1"/>
                </a:solidFill>
              </a:rPr>
              <a:t>polish, </a:t>
            </a:r>
            <a:r>
              <a:rPr sz="1100" err="1">
                <a:solidFill>
                  <a:schemeClr val="bg1"/>
                </a:solidFill>
              </a:rPr>
              <a:t>soutenance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30" y="4910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rPr err="1"/>
              <a:t>Organisation</a:t>
            </a:r>
            <a:r>
              <a:t> Scrum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04" y="5275968"/>
            <a:ext cx="50292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>
                <a:solidFill>
                  <a:schemeClr val="bg1"/>
                </a:solidFill>
                <a:latin typeface="Segoe UI"/>
              </a:rPr>
              <a:t>Sprint planning </a:t>
            </a:r>
            <a:r>
              <a:rPr sz="1100" err="1">
                <a:solidFill>
                  <a:schemeClr val="bg1"/>
                </a:solidFill>
                <a:latin typeface="Segoe UI"/>
              </a:rPr>
              <a:t>en</a:t>
            </a:r>
            <a:r>
              <a:rPr sz="1100">
                <a:solidFill>
                  <a:schemeClr val="bg1"/>
                </a:solidFill>
                <a:latin typeface="Segoe UI"/>
              </a:rPr>
              <a:t> début de </a:t>
            </a:r>
            <a:r>
              <a:rPr sz="1100" err="1">
                <a:solidFill>
                  <a:schemeClr val="bg1"/>
                </a:solidFill>
                <a:latin typeface="Segoe UI"/>
              </a:rPr>
              <a:t>chaque</a:t>
            </a:r>
            <a:r>
              <a:rPr sz="1100">
                <a:solidFill>
                  <a:schemeClr val="bg1"/>
                </a:solidFill>
                <a:latin typeface="Segoe UI"/>
              </a:rPr>
              <a:t> phase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>
                <a:solidFill>
                  <a:schemeClr val="bg1"/>
                </a:solidFill>
                <a:latin typeface="Segoe UI"/>
              </a:rPr>
              <a:t>Daily meetings pour le </a:t>
            </a:r>
            <a:r>
              <a:rPr sz="1100" err="1">
                <a:solidFill>
                  <a:schemeClr val="bg1"/>
                </a:solidFill>
                <a:latin typeface="Segoe UI"/>
              </a:rPr>
              <a:t>suivi</a:t>
            </a:r>
            <a:endParaRPr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>
                <a:solidFill>
                  <a:schemeClr val="bg1"/>
                </a:solidFill>
                <a:latin typeface="Segoe UI"/>
              </a:rPr>
              <a:t>Backlog </a:t>
            </a:r>
            <a:r>
              <a:rPr sz="1100" err="1">
                <a:solidFill>
                  <a:schemeClr val="bg1"/>
                </a:solidFill>
                <a:latin typeface="Segoe UI"/>
              </a:rPr>
              <a:t>priorisé</a:t>
            </a:r>
            <a:r>
              <a:rPr sz="1100">
                <a:solidFill>
                  <a:schemeClr val="bg1"/>
                </a:solidFill>
                <a:latin typeface="Segoe UI"/>
              </a:rPr>
              <a:t> par </a:t>
            </a:r>
            <a:r>
              <a:rPr sz="1100" err="1">
                <a:solidFill>
                  <a:schemeClr val="bg1"/>
                </a:solidFill>
                <a:latin typeface="Segoe UI"/>
              </a:rPr>
              <a:t>SFx</a:t>
            </a:r>
            <a:endParaRPr sz="110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2310" y="49102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  <a:latin typeface="Segoe UI"/>
              </a:defRPr>
            </a:pPr>
            <a:r>
              <a:t>Outils collaboratifs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2310" y="5275968"/>
            <a:ext cx="50292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>
                <a:solidFill>
                  <a:schemeClr val="bg1"/>
                </a:solidFill>
                <a:latin typeface="Segoe UI"/>
              </a:rPr>
              <a:t>Git / GitHub (branches par </a:t>
            </a:r>
            <a:r>
              <a:rPr sz="1100" err="1">
                <a:solidFill>
                  <a:schemeClr val="bg1"/>
                </a:solidFill>
                <a:latin typeface="Segoe UI"/>
              </a:rPr>
              <a:t>fonctionnalité</a:t>
            </a:r>
            <a:r>
              <a:rPr sz="1100"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>
                <a:solidFill>
                  <a:schemeClr val="bg1"/>
                </a:solidFill>
                <a:latin typeface="Segoe UI"/>
              </a:rPr>
              <a:t>Base de données MySQL commune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sz="1100" err="1">
                <a:solidFill>
                  <a:schemeClr val="bg1"/>
                </a:solidFill>
                <a:latin typeface="Segoe UI"/>
              </a:rPr>
              <a:t>Serveur</a:t>
            </a:r>
            <a:r>
              <a:rPr sz="1100">
                <a:solidFill>
                  <a:schemeClr val="bg1"/>
                </a:solidFill>
                <a:latin typeface="Segoe UI"/>
              </a:rPr>
              <a:t> Apache local (XAMPP)</a:t>
            </a:r>
          </a:p>
        </p:txBody>
      </p:sp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E7CDB40A-AF5F-22A3-4A9B-36D507CF06F1}"/>
              </a:ext>
            </a:extLst>
          </p:cNvPr>
          <p:cNvSpPr/>
          <p:nvPr/>
        </p:nvSpPr>
        <p:spPr>
          <a:xfrm>
            <a:off x="334296" y="229556"/>
            <a:ext cx="3103061" cy="52322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PARTIE </a:t>
            </a:r>
            <a:r>
              <a:rPr lang="fr-FR" sz="3600"/>
              <a:t>2</a:t>
            </a:r>
            <a:endParaRPr sz="3600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F2D9869E-ADAF-5766-ED32-C367480D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476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6389" y="147484"/>
            <a:ext cx="7891371" cy="629756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PARTIE 3 — CONFORMITÉ </a:t>
            </a:r>
            <a:r>
              <a:rPr sz="3600" err="1"/>
              <a:t>STx</a:t>
            </a:r>
            <a:endParaRPr sz="360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sz="4000" u="sng"/>
              <a:t>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Segoe UI"/>
              </a:defRPr>
            </a:pPr>
            <a:r>
              <a:t>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443138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PHP 7.4+ (POO </a:t>
            </a:r>
            <a:r>
              <a:rPr sz="1200" err="1">
                <a:solidFill>
                  <a:schemeClr val="bg1"/>
                </a:solidFill>
                <a:latin typeface="Segoe UI"/>
              </a:rPr>
              <a:t>obligatoire</a:t>
            </a:r>
            <a:r>
              <a:rPr sz="1200"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MySQL / MariaDB (PDO)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MVC sans framework (from scratch)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Composer (autoload PSR-4)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PHPMailer (envoi </a:t>
            </a:r>
            <a:r>
              <a:rPr sz="1200" err="1">
                <a:solidFill>
                  <a:schemeClr val="bg1"/>
                </a:solidFill>
                <a:latin typeface="Segoe UI"/>
              </a:rPr>
              <a:t>d'emails</a:t>
            </a:r>
            <a:r>
              <a:rPr sz="1200">
                <a:solidFill>
                  <a:schemeClr val="bg1"/>
                </a:solidFill>
                <a:latin typeface="Segoe UI"/>
              </a:rPr>
              <a:t> SMTP)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6366F1"/>
                </a:solidFill>
                <a:latin typeface="Segoe UI"/>
              </a:rPr>
              <a:t>▸  </a:t>
            </a:r>
            <a:r>
              <a:rPr sz="1200" err="1">
                <a:solidFill>
                  <a:schemeClr val="bg1"/>
                </a:solidFill>
                <a:latin typeface="Segoe UI"/>
              </a:rPr>
              <a:t>PHPUnit</a:t>
            </a:r>
            <a:r>
              <a:rPr sz="1200">
                <a:solidFill>
                  <a:schemeClr val="bg1"/>
                </a:solidFill>
                <a:latin typeface="Segoe UI"/>
              </a:rPr>
              <a:t> (tests </a:t>
            </a:r>
            <a:r>
              <a:rPr sz="1200" err="1">
                <a:solidFill>
                  <a:schemeClr val="bg1"/>
                </a:solidFill>
                <a:latin typeface="Segoe UI"/>
              </a:rPr>
              <a:t>unitaires</a:t>
            </a:r>
            <a:r>
              <a:rPr sz="1200">
                <a:solidFill>
                  <a:schemeClr val="bg1"/>
                </a:solidFill>
                <a:latin typeface="Segoe UI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8416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rPr sz="1200"/>
              <a:t>[</a:t>
            </a:r>
            <a:r>
              <a:rPr sz="1200" err="1"/>
              <a:t>STx</a:t>
            </a:r>
            <a:r>
              <a:rPr sz="1200"/>
              <a:t> 1] Architecture MVC </a:t>
            </a:r>
            <a:r>
              <a:rPr sz="1200" err="1"/>
              <a:t>obligatoire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4] Pas de CMS (WordPress, Drupal...)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5] Pas de framework (Laravel, Symfony, React...)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6] Apache + PHP + MySQL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7] </a:t>
            </a:r>
            <a:r>
              <a:rPr sz="1200" err="1"/>
              <a:t>Moteur</a:t>
            </a:r>
            <a:r>
              <a:rPr sz="1200"/>
              <a:t> de template backend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14] Tests </a:t>
            </a:r>
            <a:r>
              <a:rPr sz="1200" err="1"/>
              <a:t>unitaires</a:t>
            </a:r>
            <a:r>
              <a:rPr sz="1200"/>
              <a:t> </a:t>
            </a:r>
            <a:r>
              <a:rPr sz="1200" err="1"/>
              <a:t>PHPUnit</a:t>
            </a:r>
            <a:endParaRPr sz="1200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Front-end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A855F7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HTML5 </a:t>
            </a:r>
            <a:r>
              <a:rPr sz="1200" err="1">
                <a:solidFill>
                  <a:schemeClr val="bg1"/>
                </a:solidFill>
                <a:latin typeface="Segoe UI"/>
              </a:rPr>
              <a:t>sémantique</a:t>
            </a:r>
            <a:r>
              <a:rPr sz="1200">
                <a:solidFill>
                  <a:schemeClr val="bg1"/>
                </a:solidFill>
                <a:latin typeface="Segoe UI"/>
              </a:rPr>
              <a:t> (</a:t>
            </a:r>
            <a:r>
              <a:rPr sz="1200" err="1">
                <a:solidFill>
                  <a:schemeClr val="bg1"/>
                </a:solidFill>
                <a:latin typeface="Segoe UI"/>
              </a:rPr>
              <a:t>validé</a:t>
            </a:r>
            <a:r>
              <a:rPr sz="1200">
                <a:solidFill>
                  <a:schemeClr val="bg1"/>
                </a:solidFill>
                <a:latin typeface="Segoe UI"/>
              </a:rPr>
              <a:t> W3C)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A855F7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CSS3 (variables HSL, design system)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A855F7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JavaScript Vanilla (pas de jQuery </a:t>
            </a:r>
            <a:r>
              <a:rPr sz="1200" err="1">
                <a:solidFill>
                  <a:schemeClr val="bg1"/>
                </a:solidFill>
                <a:latin typeface="Segoe UI"/>
              </a:rPr>
              <a:t>requis</a:t>
            </a:r>
            <a:r>
              <a:rPr sz="1200"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A855F7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Bootstrap 5.3 (bibliothèque </a:t>
            </a:r>
            <a:r>
              <a:rPr sz="1200" err="1">
                <a:solidFill>
                  <a:schemeClr val="bg1"/>
                </a:solidFill>
                <a:latin typeface="Segoe UI"/>
              </a:rPr>
              <a:t>autorisée</a:t>
            </a:r>
            <a:r>
              <a:rPr sz="1200"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200">
                <a:solidFill>
                  <a:srgbClr val="A855F7"/>
                </a:solidFill>
                <a:latin typeface="Segoe UI"/>
              </a:rPr>
              <a:t>▸  </a:t>
            </a:r>
            <a:r>
              <a:rPr sz="1200">
                <a:solidFill>
                  <a:schemeClr val="bg1"/>
                </a:solidFill>
                <a:latin typeface="Segoe UI"/>
              </a:rPr>
              <a:t>Font Awesome 6 (</a:t>
            </a:r>
            <a:r>
              <a:rPr sz="1200" err="1">
                <a:solidFill>
                  <a:schemeClr val="bg1"/>
                </a:solidFill>
                <a:latin typeface="Segoe UI"/>
              </a:rPr>
              <a:t>icônes</a:t>
            </a:r>
            <a:r>
              <a:rPr sz="1200">
                <a:solidFill>
                  <a:schemeClr val="bg1"/>
                </a:solidFill>
                <a:latin typeface="Segoe U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88416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rPr sz="1200"/>
              <a:t>[</a:t>
            </a:r>
            <a:r>
              <a:rPr sz="1200" err="1"/>
              <a:t>STx</a:t>
            </a:r>
            <a:r>
              <a:rPr sz="1200"/>
              <a:t> 2] HTML5 </a:t>
            </a:r>
            <a:r>
              <a:rPr sz="1200" err="1"/>
              <a:t>sémantique</a:t>
            </a:r>
            <a:r>
              <a:rPr sz="1200"/>
              <a:t>, W3C </a:t>
            </a:r>
            <a:r>
              <a:rPr sz="1200" err="1"/>
              <a:t>valide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3] Validation </a:t>
            </a:r>
            <a:r>
              <a:rPr sz="1200" err="1"/>
              <a:t>formulaires</a:t>
            </a:r>
            <a:r>
              <a:rPr sz="1200"/>
              <a:t> front + back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9] </a:t>
            </a:r>
            <a:r>
              <a:rPr sz="1200" err="1"/>
              <a:t>VHost</a:t>
            </a:r>
            <a:r>
              <a:rPr sz="1200"/>
              <a:t> pour </a:t>
            </a:r>
            <a:r>
              <a:rPr sz="1200" err="1"/>
              <a:t>contenu</a:t>
            </a:r>
            <a:r>
              <a:rPr sz="1200"/>
              <a:t> </a:t>
            </a:r>
            <a:r>
              <a:rPr sz="1200" err="1"/>
              <a:t>statique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10] Responsive + menu burger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12] SEO (meta, title, </a:t>
            </a:r>
            <a:r>
              <a:rPr sz="1200" err="1"/>
              <a:t>Hn</a:t>
            </a:r>
            <a:r>
              <a:rPr sz="1200"/>
              <a:t>, sitemap)</a:t>
            </a:r>
            <a:br>
              <a:rPr sz="1200"/>
            </a:br>
            <a:r>
              <a:rPr sz="1200"/>
              <a:t>[</a:t>
            </a:r>
            <a:r>
              <a:rPr sz="1200" err="1"/>
              <a:t>STx</a:t>
            </a:r>
            <a:r>
              <a:rPr sz="1200"/>
              <a:t> 13] </a:t>
            </a:r>
            <a:r>
              <a:rPr sz="1200" err="1"/>
              <a:t>Routage</a:t>
            </a:r>
            <a:r>
              <a:rPr sz="1200"/>
              <a:t> </a:t>
            </a:r>
            <a:r>
              <a:rPr sz="1200" err="1"/>
              <a:t>d'URL</a:t>
            </a:r>
            <a:r>
              <a:rPr sz="1200"/>
              <a:t> (URLs </a:t>
            </a:r>
            <a:r>
              <a:rPr sz="1200" err="1"/>
              <a:t>lisibles</a:t>
            </a:r>
            <a:r>
              <a:rPr sz="1200"/>
              <a:t>)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F57F45A-B446-3120-3C93-1577BB6E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7336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7059" y="309719"/>
            <a:ext cx="7901203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PARTIE 4 — </a:t>
            </a:r>
            <a:r>
              <a:rPr sz="3600" err="1"/>
              <a:t>STx</a:t>
            </a:r>
            <a:r>
              <a:rPr sz="3600"/>
              <a:t> 1 / </a:t>
            </a:r>
            <a:r>
              <a:rPr sz="3600" err="1"/>
              <a:t>STx</a:t>
            </a:r>
            <a:r>
              <a:rPr sz="3600"/>
              <a:t> 7 / </a:t>
            </a:r>
            <a:r>
              <a:rPr sz="3600" err="1"/>
              <a:t>STx</a:t>
            </a:r>
            <a:r>
              <a:rPr sz="3600"/>
              <a:t>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sz="4000" u="sng"/>
              <a:t>Architecture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Pattern </a:t>
            </a:r>
            <a:r>
              <a:rPr err="1">
                <a:solidFill>
                  <a:schemeClr val="bg1"/>
                </a:solidFill>
              </a:rPr>
              <a:t>Modèle</a:t>
            </a:r>
            <a:r>
              <a:rPr>
                <a:solidFill>
                  <a:schemeClr val="bg1"/>
                </a:solidFill>
              </a:rPr>
              <a:t>-Vue-</a:t>
            </a:r>
            <a:r>
              <a:rPr err="1">
                <a:solidFill>
                  <a:schemeClr val="bg1"/>
                </a:solidFill>
              </a:rPr>
              <a:t>Contrôleur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implémenté</a:t>
            </a:r>
            <a:r>
              <a:rPr>
                <a:solidFill>
                  <a:schemeClr val="bg1"/>
                </a:solidFill>
              </a:rPr>
              <a:t> from scratch, sans framework, </a:t>
            </a:r>
            <a:r>
              <a:rPr err="1">
                <a:solidFill>
                  <a:schemeClr val="bg1"/>
                </a:solidFill>
              </a:rPr>
              <a:t>en</a:t>
            </a:r>
            <a:r>
              <a:rPr>
                <a:solidFill>
                  <a:schemeClr val="bg1"/>
                </a:solidFill>
              </a:rPr>
              <a:t> PHP </a:t>
            </a:r>
            <a:r>
              <a:rPr err="1">
                <a:solidFill>
                  <a:schemeClr val="bg1"/>
                </a:solidFill>
              </a:rPr>
              <a:t>orienté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objet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55448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Client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HTTP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103120"/>
            <a:ext cx="155448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public/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index.php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155448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Core\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155448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t>Controllers\*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2103120"/>
            <a:ext cx="164592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Models\*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49840" y="2103120"/>
            <a:ext cx="1554480" cy="10972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Views/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*.</a:t>
            </a:r>
            <a:r>
              <a:rPr err="1">
                <a:solidFill>
                  <a:schemeClr val="bg1"/>
                </a:solidFill>
              </a:rPr>
              <a:t>php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256032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config/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config.php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routes.php</a:t>
            </a:r>
            <a:r>
              <a:rPr>
                <a:solidFill>
                  <a:schemeClr val="bg1"/>
                </a:solidFill>
              </a:rPr>
              <a:t>,</a:t>
            </a:r>
            <a:br>
              <a:rPr>
                <a:solidFill>
                  <a:schemeClr val="bg1"/>
                </a:solidFill>
              </a:rPr>
            </a:br>
            <a:r>
              <a:rPr err="1">
                <a:solidFill>
                  <a:schemeClr val="bg1"/>
                </a:solidFill>
              </a:rPr>
              <a:t>constantes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566160" y="3657600"/>
            <a:ext cx="256032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core/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Controller.php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Model.php</a:t>
            </a:r>
            <a:r>
              <a:rPr>
                <a:solidFill>
                  <a:schemeClr val="bg1"/>
                </a:solidFill>
              </a:rPr>
              <a:t>,</a:t>
            </a:r>
            <a:br>
              <a:rPr>
                <a:solidFill>
                  <a:schemeClr val="bg1"/>
                </a:solidFill>
              </a:rPr>
            </a:br>
            <a:r>
              <a:rPr err="1">
                <a:solidFill>
                  <a:schemeClr val="bg1"/>
                </a:solidFill>
              </a:rPr>
              <a:t>Router.php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256032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 err="1"/>
              <a:t>src</a:t>
            </a:r>
            <a:r>
              <a:rPr sz="2400"/>
              <a:t>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controllers/, models/,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views/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657600"/>
            <a:ext cx="2560320" cy="11887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sz="2400"/>
              <a:t>public/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CSS, JS, assets,</a:t>
            </a:r>
            <a:br>
              <a:rPr>
                <a:solidFill>
                  <a:schemeClr val="bg1"/>
                </a:solidFill>
              </a:rPr>
            </a:br>
            <a:r>
              <a:rPr err="1">
                <a:solidFill>
                  <a:schemeClr val="bg1"/>
                </a:solidFill>
              </a:rPr>
              <a:t>index.php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54349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[</a:t>
            </a:r>
            <a:r>
              <a:rPr err="1"/>
              <a:t>STx</a:t>
            </a:r>
            <a:r>
              <a:t> 7] </a:t>
            </a:r>
            <a:r>
              <a:rPr err="1"/>
              <a:t>Moteur</a:t>
            </a:r>
            <a:r>
              <a:t> de template : layout principal + inclusions de fragments (header, footer, partials)</a:t>
            </a:r>
            <a:br>
              <a:rPr/>
            </a:br>
            <a:r>
              <a:t>[</a:t>
            </a:r>
            <a:r>
              <a:rPr err="1"/>
              <a:t>STx</a:t>
            </a:r>
            <a:r>
              <a:t> 13] URLs </a:t>
            </a:r>
            <a:r>
              <a:rPr err="1"/>
              <a:t>lisibles</a:t>
            </a:r>
            <a:r>
              <a:t> et </a:t>
            </a:r>
            <a:r>
              <a:rPr err="1"/>
              <a:t>hiérarchisées</a:t>
            </a:r>
            <a:r>
              <a:t> : /</a:t>
            </a:r>
            <a:r>
              <a:rPr err="1"/>
              <a:t>offres</a:t>
            </a:r>
            <a:r>
              <a:t>/show/42, /</a:t>
            </a:r>
            <a:r>
              <a:rPr err="1"/>
              <a:t>etudiants</a:t>
            </a:r>
            <a:r>
              <a:t>, /candidatures/</a:t>
            </a:r>
            <a:r>
              <a:rPr err="1"/>
              <a:t>etudiant</a:t>
            </a:r>
            <a:endParaRPr/>
          </a:p>
        </p:txBody>
      </p: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0CC61EE7-396C-A994-DEEC-50E311C44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904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8733" y="290055"/>
            <a:ext cx="4381254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PARTIE 5 — </a:t>
            </a:r>
            <a:r>
              <a:rPr lang="fr-FR" sz="3600" err="1"/>
              <a:t>STx</a:t>
            </a:r>
            <a:r>
              <a:rPr lang="fr-FR" sz="3600"/>
              <a:t>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/>
              <a:t>Base de Données (MCD)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72872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11 tables </a:t>
            </a:r>
            <a:r>
              <a:rPr err="1">
                <a:solidFill>
                  <a:schemeClr val="bg1"/>
                </a:solidFill>
              </a:rPr>
              <a:t>relationnelles</a:t>
            </a:r>
            <a:r>
              <a:rPr>
                <a:solidFill>
                  <a:schemeClr val="bg1"/>
                </a:solidFill>
              </a:rPr>
              <a:t> avec </a:t>
            </a:r>
            <a:r>
              <a:rPr err="1">
                <a:solidFill>
                  <a:schemeClr val="bg1"/>
                </a:solidFill>
              </a:rPr>
              <a:t>clés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étrangères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contraintes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d'unicité</a:t>
            </a:r>
            <a:r>
              <a:rPr>
                <a:solidFill>
                  <a:schemeClr val="bg1"/>
                </a:solidFill>
              </a:rPr>
              <a:t> et index.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nom, </a:t>
            </a:r>
            <a:r>
              <a:rPr sz="1600" err="1">
                <a:solidFill>
                  <a:schemeClr val="bg1"/>
                </a:solidFill>
              </a:rPr>
              <a:t>prenom</a:t>
            </a:r>
            <a:r>
              <a:rPr sz="1600">
                <a:solidFill>
                  <a:schemeClr val="bg1"/>
                </a:solidFill>
              </a:rPr>
              <a:t>, email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password (</a:t>
            </a:r>
            <a:r>
              <a:rPr sz="1600" err="1">
                <a:solidFill>
                  <a:schemeClr val="bg1"/>
                </a:solidFill>
              </a:rPr>
              <a:t>bcrypt</a:t>
            </a:r>
            <a:r>
              <a:rPr sz="160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role (</a:t>
            </a:r>
            <a:r>
              <a:rPr sz="1600" err="1">
                <a:solidFill>
                  <a:schemeClr val="bg1"/>
                </a:solidFill>
              </a:rPr>
              <a:t>enum</a:t>
            </a:r>
            <a:r>
              <a:rPr sz="1600">
                <a:solidFill>
                  <a:schemeClr val="bg1"/>
                </a:solidFill>
              </a:rPr>
              <a:t>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is_approved</a:t>
            </a:r>
            <a:r>
              <a:rPr sz="1600">
                <a:solidFill>
                  <a:schemeClr val="bg1"/>
                </a:solidFill>
              </a:rPr>
              <a:t>, </a:t>
            </a:r>
            <a:r>
              <a:rPr sz="1600" err="1">
                <a:solidFill>
                  <a:schemeClr val="bg1"/>
                </a:solidFill>
              </a:rPr>
              <a:t>is_verified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337560" y="201168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entreprises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33172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nom, </a:t>
            </a:r>
            <a:r>
              <a:rPr sz="1600" err="1">
                <a:solidFill>
                  <a:schemeClr val="bg1"/>
                </a:solidFill>
              </a:rPr>
              <a:t>secteur</a:t>
            </a:r>
            <a:r>
              <a:rPr sz="1600">
                <a:solidFill>
                  <a:schemeClr val="bg1"/>
                </a:solidFill>
              </a:rPr>
              <a:t>, </a:t>
            </a:r>
            <a:r>
              <a:rPr sz="1600" err="1">
                <a:solidFill>
                  <a:schemeClr val="bg1"/>
                </a:solidFill>
              </a:rPr>
              <a:t>ville</a:t>
            </a:r>
            <a:endParaRPr sz="160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description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email, telephone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site_web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offres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682" y="233172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entreprise_id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titre</a:t>
            </a:r>
            <a:r>
              <a:rPr sz="1600">
                <a:solidFill>
                  <a:schemeClr val="bg1"/>
                </a:solidFill>
              </a:rPr>
              <a:t>, description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competences (JSON)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remuneration, </a:t>
            </a:r>
            <a:r>
              <a:rPr sz="1600" err="1">
                <a:solidFill>
                  <a:schemeClr val="bg1"/>
                </a:solidFill>
              </a:rPr>
              <a:t>duree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98280" y="201168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candidatures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233172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offre_id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etudiant_id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cv, </a:t>
            </a:r>
            <a:r>
              <a:rPr sz="1600" err="1">
                <a:solidFill>
                  <a:schemeClr val="bg1"/>
                </a:solidFill>
              </a:rPr>
              <a:t>lettre_motivation</a:t>
            </a:r>
            <a:endParaRPr sz="160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statut</a:t>
            </a:r>
            <a:r>
              <a:rPr sz="1600">
                <a:solidFill>
                  <a:schemeClr val="bg1"/>
                </a:solidFill>
              </a:rPr>
              <a:t> (</a:t>
            </a:r>
            <a:r>
              <a:rPr sz="1600" err="1">
                <a:solidFill>
                  <a:schemeClr val="bg1"/>
                </a:solidFill>
              </a:rPr>
              <a:t>enum</a:t>
            </a:r>
            <a:r>
              <a:rPr sz="16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wishlist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user_id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offre_id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UNIQUE(user, </a:t>
            </a:r>
            <a:r>
              <a:rPr sz="1600" err="1">
                <a:solidFill>
                  <a:schemeClr val="bg1"/>
                </a:solidFill>
              </a:rPr>
              <a:t>offre</a:t>
            </a:r>
            <a:r>
              <a:rPr sz="16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438912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evaluations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70916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user_id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entreprise_id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note (1-5)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commentaire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438912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70916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expediteur_id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destinataire_id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sujet</a:t>
            </a:r>
            <a:r>
              <a:rPr sz="1600">
                <a:solidFill>
                  <a:schemeClr val="bg1"/>
                </a:solidFill>
              </a:rPr>
              <a:t>, </a:t>
            </a:r>
            <a:r>
              <a:rPr sz="1600" err="1">
                <a:solidFill>
                  <a:schemeClr val="bg1"/>
                </a:solidFill>
              </a:rPr>
              <a:t>contenu</a:t>
            </a:r>
            <a:endParaRPr sz="1600">
              <a:solidFill>
                <a:schemeClr val="bg1"/>
              </a:solidFill>
            </a:endParaRP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 err="1">
                <a:solidFill>
                  <a:schemeClr val="bg1"/>
                </a:solidFill>
              </a:rPr>
              <a:t>lu</a:t>
            </a:r>
            <a:r>
              <a:rPr sz="1600">
                <a:solidFill>
                  <a:schemeClr val="bg1"/>
                </a:solidFill>
              </a:rPr>
              <a:t>, </a:t>
            </a:r>
            <a:r>
              <a:rPr sz="1600" err="1">
                <a:solidFill>
                  <a:schemeClr val="bg1"/>
                </a:solidFill>
              </a:rPr>
              <a:t>lu_at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98280" y="4389120"/>
            <a:ext cx="265176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groupes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709160"/>
            <a:ext cx="2651760" cy="164592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59E0B"/>
                </a:solidFill>
                <a:latin typeface="Segoe UI"/>
              </a:defRPr>
            </a:pPr>
            <a:r>
              <a:rPr sz="1600"/>
              <a:t>id (PK)</a:t>
            </a:r>
          </a:p>
          <a:p>
            <a:pPr>
              <a:spcBef>
                <a:spcPts val="200"/>
              </a:spcBef>
              <a:defRPr sz="900">
                <a:solidFill>
                  <a:srgbClr val="6366F1"/>
                </a:solidFill>
                <a:latin typeface="Segoe UI"/>
              </a:defRPr>
            </a:pPr>
            <a:r>
              <a:rPr sz="1600" err="1"/>
              <a:t>pilote_id</a:t>
            </a:r>
            <a:r>
              <a:rPr sz="1600"/>
              <a:t> (FK)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nom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rPr sz="1600">
                <a:solidFill>
                  <a:schemeClr val="bg1"/>
                </a:solidFill>
              </a:rPr>
              <a:t>+ </a:t>
            </a:r>
            <a:r>
              <a:rPr sz="1600" err="1">
                <a:solidFill>
                  <a:schemeClr val="bg1"/>
                </a:solidFill>
              </a:rPr>
              <a:t>groupe_etudiant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Tables de liaison : </a:t>
            </a:r>
            <a:r>
              <a:rPr err="1">
                <a:solidFill>
                  <a:schemeClr val="bg1"/>
                </a:solidFill>
              </a:rPr>
              <a:t>pilote_etudiant</a:t>
            </a:r>
            <a:r>
              <a:rPr>
                <a:solidFill>
                  <a:schemeClr val="bg1"/>
                </a:solidFill>
              </a:rPr>
              <a:t>  •  </a:t>
            </a:r>
            <a:r>
              <a:rPr err="1">
                <a:solidFill>
                  <a:schemeClr val="bg1"/>
                </a:solidFill>
              </a:rPr>
              <a:t>recruteur_entreprise</a:t>
            </a:r>
            <a:r>
              <a:rPr>
                <a:solidFill>
                  <a:schemeClr val="bg1"/>
                </a:solidFill>
              </a:rPr>
              <a:t>  •  </a:t>
            </a:r>
            <a:r>
              <a:rPr err="1">
                <a:solidFill>
                  <a:schemeClr val="bg1"/>
                </a:solidFill>
              </a:rPr>
              <a:t>groupe_etudiant</a:t>
            </a:r>
            <a:r>
              <a:rPr>
                <a:solidFill>
                  <a:schemeClr val="bg1"/>
                </a:solidFill>
              </a:rPr>
              <a:t>  —  </a:t>
            </a:r>
            <a:r>
              <a:rPr err="1">
                <a:solidFill>
                  <a:schemeClr val="bg1"/>
                </a:solidFill>
              </a:rPr>
              <a:t>Toutes</a:t>
            </a:r>
            <a:r>
              <a:rPr>
                <a:solidFill>
                  <a:schemeClr val="bg1"/>
                </a:solidFill>
              </a:rPr>
              <a:t> les relations </a:t>
            </a:r>
            <a:r>
              <a:rPr err="1">
                <a:solidFill>
                  <a:schemeClr val="bg1"/>
                </a:solidFill>
              </a:rPr>
              <a:t>utilisent</a:t>
            </a:r>
            <a:r>
              <a:rPr>
                <a:solidFill>
                  <a:schemeClr val="bg1"/>
                </a:solidFill>
              </a:rPr>
              <a:t> des </a:t>
            </a:r>
            <a:r>
              <a:rPr err="1">
                <a:solidFill>
                  <a:schemeClr val="bg1"/>
                </a:solidFill>
              </a:rPr>
              <a:t>clés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étrangères</a:t>
            </a:r>
            <a:r>
              <a:rPr>
                <a:solidFill>
                  <a:schemeClr val="bg1"/>
                </a:solidFill>
              </a:rPr>
              <a:t> [</a:t>
            </a:r>
            <a:r>
              <a:rPr err="1">
                <a:solidFill>
                  <a:schemeClr val="bg1"/>
                </a:solidFill>
              </a:rPr>
              <a:t>STx</a:t>
            </a:r>
            <a:r>
              <a:rPr>
                <a:solidFill>
                  <a:schemeClr val="bg1"/>
                </a:solidFill>
              </a:rPr>
              <a:t> 8]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03ACA46B-736C-F823-EF8D-170E72A2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7336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0410" y="182880"/>
            <a:ext cx="4351757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PARTIE 6 — </a:t>
            </a:r>
            <a:r>
              <a:rPr lang="fr-FR" sz="3600" err="1"/>
              <a:t>SFx</a:t>
            </a:r>
            <a:r>
              <a:rPr lang="fr-FR" sz="3600"/>
              <a:t>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 err="1"/>
              <a:t>Rôles</a:t>
            </a:r>
            <a:r>
              <a:rPr lang="fr-FR" u="sng"/>
              <a:t> &amp; Matrice des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3 profils principaux : Administrateur, Pilote de promotion, Étudiant.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15188"/>
              </p:ext>
            </p:extLst>
          </p:nvPr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366F1"/>
                          </a:solidFill>
                          <a:latin typeface="Segoe UI"/>
                        </a:defRPr>
                      </a:pPr>
                      <a:r>
                        <a:t>Fonctionnalité (SFx)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366F1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366F1"/>
                          </a:solidFill>
                          <a:latin typeface="Segoe UI"/>
                        </a:defRPr>
                      </a:pPr>
                      <a:r>
                        <a:t>Pilote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366F1"/>
                          </a:solidFill>
                          <a:latin typeface="Segoe UI"/>
                        </a:defRPr>
                      </a:pPr>
                      <a:r>
                        <a:t>Étudiant</a:t>
                      </a:r>
                    </a:p>
                  </a:txBody>
                  <a:tcPr>
                    <a:solidFill>
                      <a:srgbClr val="1A1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1] Authentification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2] Rechercher entreprise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3-4-6] CRUD Entreprises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5] Évaluer entreprise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7-10] CRUD Offres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11] Statistiques (carrousel)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12-15] CRUD Pilotes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16-19] CRUD Étudiants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20-21] Postuler / Candidatures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22] Candidatures de ses élèves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[SFx 23-25] Wish-list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2C55E"/>
                          </a:solidFill>
                          <a:latin typeface="Segoe U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141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4CBA75-81C0-3935-ECE4-80665141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3056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8155" y="182880"/>
            <a:ext cx="10835147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PARTIE 7 — SPÉCIFICATIONS FONCTIONNELLES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/>
              <a:t>Gestion des Entreprises &amp; </a:t>
            </a:r>
            <a:r>
              <a:rPr lang="fr-FR" u="sng" err="1"/>
              <a:t>Offres</a:t>
            </a:r>
            <a:endParaRPr lang="fr-FR" u="sng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2 • 3 • 4 • 5 • 6]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2400"/>
              <a:t>Entreprises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Recherche </a:t>
            </a:r>
            <a:r>
              <a:rPr err="1">
                <a:solidFill>
                  <a:schemeClr val="bg1"/>
                </a:solidFill>
              </a:rPr>
              <a:t>multicritère</a:t>
            </a:r>
            <a:r>
              <a:rPr>
                <a:solidFill>
                  <a:schemeClr val="bg1"/>
                </a:solidFill>
              </a:rPr>
              <a:t> avec pagination. Fiche </a:t>
            </a:r>
            <a:r>
              <a:rPr err="1">
                <a:solidFill>
                  <a:schemeClr val="bg1"/>
                </a:solidFill>
              </a:rPr>
              <a:t>détaillée</a:t>
            </a:r>
            <a:r>
              <a:rPr>
                <a:solidFill>
                  <a:schemeClr val="bg1"/>
                </a:solidFill>
              </a:rPr>
              <a:t> : description, contact, </a:t>
            </a:r>
            <a:r>
              <a:rPr err="1">
                <a:solidFill>
                  <a:schemeClr val="bg1"/>
                </a:solidFill>
              </a:rPr>
              <a:t>offres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liées</a:t>
            </a:r>
            <a:r>
              <a:rPr>
                <a:solidFill>
                  <a:schemeClr val="bg1"/>
                </a:solidFill>
              </a:rPr>
              <a:t>. </a:t>
            </a:r>
            <a:r>
              <a:rPr err="1">
                <a:solidFill>
                  <a:schemeClr val="bg1"/>
                </a:solidFill>
              </a:rPr>
              <a:t>Évaluations</a:t>
            </a:r>
            <a:r>
              <a:rPr>
                <a:solidFill>
                  <a:schemeClr val="bg1"/>
                </a:solidFill>
              </a:rPr>
              <a:t> (note 1-5 + </a:t>
            </a:r>
            <a:r>
              <a:rPr err="1">
                <a:solidFill>
                  <a:schemeClr val="bg1"/>
                </a:solidFill>
              </a:rPr>
              <a:t>commentaire</a:t>
            </a:r>
            <a:r>
              <a:rPr>
                <a:solidFill>
                  <a:schemeClr val="bg1"/>
                </a:solidFill>
              </a:rPr>
              <a:t>). CRUD </a:t>
            </a:r>
            <a:r>
              <a:rPr err="1">
                <a:solidFill>
                  <a:schemeClr val="bg1"/>
                </a:solidFill>
              </a:rPr>
              <a:t>complet</a:t>
            </a:r>
            <a:r>
              <a:rPr>
                <a:solidFill>
                  <a:schemeClr val="bg1"/>
                </a:solidFill>
              </a:rPr>
              <a:t> (admin + </a:t>
            </a:r>
            <a:r>
              <a:rPr err="1">
                <a:solidFill>
                  <a:schemeClr val="bg1"/>
                </a:solidFill>
              </a:rPr>
              <a:t>pilote</a:t>
            </a:r>
            <a:r>
              <a:rPr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7 • 8 • 9 • 10]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2400" err="1"/>
              <a:t>Offres</a:t>
            </a:r>
            <a:r>
              <a:rPr sz="2400"/>
              <a:t> de stage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Recherche par </a:t>
            </a:r>
            <a:r>
              <a:rPr err="1">
                <a:solidFill>
                  <a:schemeClr val="bg1"/>
                </a:solidFill>
              </a:rPr>
              <a:t>compétences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entreprise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ville</a:t>
            </a:r>
            <a:r>
              <a:rPr>
                <a:solidFill>
                  <a:schemeClr val="bg1"/>
                </a:solidFill>
              </a:rPr>
              <a:t>. </a:t>
            </a:r>
            <a:r>
              <a:rPr err="1">
                <a:solidFill>
                  <a:schemeClr val="bg1"/>
                </a:solidFill>
              </a:rPr>
              <a:t>Compétences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en</a:t>
            </a:r>
            <a:r>
              <a:rPr>
                <a:solidFill>
                  <a:schemeClr val="bg1"/>
                </a:solidFill>
              </a:rPr>
              <a:t> JSON. Données : </a:t>
            </a:r>
            <a:r>
              <a:rPr err="1">
                <a:solidFill>
                  <a:schemeClr val="bg1"/>
                </a:solidFill>
              </a:rPr>
              <a:t>titre</a:t>
            </a:r>
            <a:r>
              <a:rPr>
                <a:solidFill>
                  <a:schemeClr val="bg1"/>
                </a:solidFill>
              </a:rPr>
              <a:t>, description, </a:t>
            </a:r>
            <a:r>
              <a:rPr err="1">
                <a:solidFill>
                  <a:schemeClr val="bg1"/>
                </a:solidFill>
              </a:rPr>
              <a:t>rémunération</a:t>
            </a:r>
            <a:r>
              <a:rPr>
                <a:solidFill>
                  <a:schemeClr val="bg1"/>
                </a:solidFill>
              </a:rPr>
              <a:t>, durée, date, </a:t>
            </a:r>
            <a:r>
              <a:rPr err="1">
                <a:solidFill>
                  <a:schemeClr val="bg1"/>
                </a:solidFill>
              </a:rPr>
              <a:t>nb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candidats</a:t>
            </a:r>
            <a:r>
              <a:rPr>
                <a:solidFill>
                  <a:schemeClr val="bg1"/>
                </a:solidFill>
              </a:rPr>
              <a:t>. CRUD </a:t>
            </a:r>
            <a:r>
              <a:rPr err="1">
                <a:solidFill>
                  <a:schemeClr val="bg1"/>
                </a:solidFill>
              </a:rPr>
              <a:t>complet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11]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2400" err="1"/>
              <a:t>Statistiques</a:t>
            </a:r>
            <a:r>
              <a:rPr sz="2400"/>
              <a:t> (Carrousel)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Carrousel </a:t>
            </a:r>
            <a:r>
              <a:rPr err="1">
                <a:solidFill>
                  <a:schemeClr val="bg1"/>
                </a:solidFill>
              </a:rPr>
              <a:t>d'indicateurs</a:t>
            </a:r>
            <a:r>
              <a:rPr>
                <a:solidFill>
                  <a:schemeClr val="bg1"/>
                </a:solidFill>
              </a:rPr>
              <a:t> : </a:t>
            </a:r>
            <a:r>
              <a:rPr err="1">
                <a:solidFill>
                  <a:schemeClr val="bg1"/>
                </a:solidFill>
              </a:rPr>
              <a:t>répartition</a:t>
            </a:r>
            <a:r>
              <a:rPr>
                <a:solidFill>
                  <a:schemeClr val="bg1"/>
                </a:solidFill>
              </a:rPr>
              <a:t> par durée, top wish-list, total </a:t>
            </a:r>
            <a:r>
              <a:rPr err="1">
                <a:solidFill>
                  <a:schemeClr val="bg1"/>
                </a:solidFill>
              </a:rPr>
              <a:t>offres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moyenne</a:t>
            </a:r>
            <a:r>
              <a:rPr>
                <a:solidFill>
                  <a:schemeClr val="bg1"/>
                </a:solidFill>
              </a:rPr>
              <a:t> candidatures par </a:t>
            </a:r>
            <a:r>
              <a:rPr err="1">
                <a:solidFill>
                  <a:schemeClr val="bg1"/>
                </a:solidFill>
              </a:rPr>
              <a:t>offre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27]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lang="fr-FR" sz="2400"/>
              <a:t>Pagination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Chaque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liste</a:t>
            </a:r>
            <a:r>
              <a:rPr>
                <a:solidFill>
                  <a:schemeClr val="bg1"/>
                </a:solidFill>
              </a:rPr>
              <a:t> (</a:t>
            </a:r>
            <a:r>
              <a:rPr err="1">
                <a:solidFill>
                  <a:schemeClr val="bg1"/>
                </a:solidFill>
              </a:rPr>
              <a:t>entreprises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offres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utilisateurs</a:t>
            </a:r>
            <a:r>
              <a:rPr>
                <a:solidFill>
                  <a:schemeClr val="bg1"/>
                </a:solidFill>
              </a:rPr>
              <a:t>, candidatures) dispose </a:t>
            </a:r>
            <a:r>
              <a:rPr err="1">
                <a:solidFill>
                  <a:schemeClr val="bg1"/>
                </a:solidFill>
              </a:rPr>
              <a:t>d'une</a:t>
            </a:r>
            <a:r>
              <a:rPr>
                <a:solidFill>
                  <a:schemeClr val="bg1"/>
                </a:solidFill>
              </a:rPr>
              <a:t> pagination pour les </a:t>
            </a:r>
            <a:r>
              <a:rPr err="1">
                <a:solidFill>
                  <a:schemeClr val="bg1"/>
                </a:solidFill>
              </a:rPr>
              <a:t>résultats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nombreux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3F902D2-0392-96BC-C25A-8C1F0BAA6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1616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1082" y="274320"/>
            <a:ext cx="10015138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SPÉCIFICATIONS FONCTIONNELLES (SUITE)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 err="1"/>
              <a:t>Utilisateurs</a:t>
            </a:r>
            <a:r>
              <a:rPr lang="fr-FR" u="sng"/>
              <a:t>, Candidatures &amp; Wish-list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12-15]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Gestion </a:t>
            </a:r>
            <a:r>
              <a:rPr sz="1600" err="1"/>
              <a:t>Pilotes</a:t>
            </a:r>
            <a:endParaRPr sz="16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CRUD </a:t>
            </a:r>
            <a:r>
              <a:rPr err="1">
                <a:solidFill>
                  <a:schemeClr val="bg1"/>
                </a:solidFill>
              </a:rPr>
              <a:t>complet</a:t>
            </a:r>
            <a:r>
              <a:rPr>
                <a:solidFill>
                  <a:schemeClr val="bg1"/>
                </a:solidFill>
              </a:rPr>
              <a:t> par </a:t>
            </a:r>
            <a:r>
              <a:rPr err="1">
                <a:solidFill>
                  <a:schemeClr val="bg1"/>
                </a:solidFill>
              </a:rPr>
              <a:t>l'admin</a:t>
            </a:r>
            <a:r>
              <a:rPr>
                <a:solidFill>
                  <a:schemeClr val="bg1"/>
                </a:solidFill>
              </a:rPr>
              <a:t>.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Recherche par nom/</a:t>
            </a:r>
            <a:r>
              <a:rPr err="1">
                <a:solidFill>
                  <a:schemeClr val="bg1"/>
                </a:solidFill>
              </a:rPr>
              <a:t>prénom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64592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16-19]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Gestion </a:t>
            </a:r>
            <a:r>
              <a:rPr sz="1600" err="1"/>
              <a:t>Étudiants</a:t>
            </a:r>
            <a:endParaRPr sz="16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CRUD par admin et </a:t>
            </a:r>
            <a:r>
              <a:rPr err="1">
                <a:solidFill>
                  <a:schemeClr val="bg1"/>
                </a:solidFill>
              </a:rPr>
              <a:t>pilote</a:t>
            </a:r>
            <a:r>
              <a:rPr>
                <a:solidFill>
                  <a:schemeClr val="bg1"/>
                </a:solidFill>
              </a:rPr>
              <a:t>.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Recherche nom, </a:t>
            </a:r>
            <a:r>
              <a:rPr err="1">
                <a:solidFill>
                  <a:schemeClr val="bg1"/>
                </a:solidFill>
              </a:rPr>
              <a:t>prénom</a:t>
            </a:r>
            <a:r>
              <a:rPr>
                <a:solidFill>
                  <a:schemeClr val="bg1"/>
                </a:solidFill>
              </a:rPr>
              <a:t>, email.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64592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20-21-22]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Candidatures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Postuler</a:t>
            </a:r>
            <a:r>
              <a:rPr>
                <a:solidFill>
                  <a:schemeClr val="bg1"/>
                </a:solidFill>
              </a:rPr>
              <a:t> (CV + LM). </a:t>
            </a:r>
            <a:r>
              <a:rPr err="1">
                <a:solidFill>
                  <a:schemeClr val="bg1"/>
                </a:solidFill>
              </a:rPr>
              <a:t>Suivi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étudiant</a:t>
            </a:r>
            <a:r>
              <a:rPr>
                <a:solidFill>
                  <a:schemeClr val="bg1"/>
                </a:solidFill>
              </a:rPr>
              <a:t>.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Vue </a:t>
            </a:r>
            <a:r>
              <a:rPr err="1">
                <a:solidFill>
                  <a:schemeClr val="bg1"/>
                </a:solidFill>
              </a:rPr>
              <a:t>pilote</a:t>
            </a:r>
            <a:r>
              <a:rPr>
                <a:solidFill>
                  <a:schemeClr val="bg1"/>
                </a:solidFill>
              </a:rPr>
              <a:t> sur </a:t>
            </a:r>
            <a:r>
              <a:rPr err="1">
                <a:solidFill>
                  <a:schemeClr val="bg1"/>
                </a:solidFill>
              </a:rPr>
              <a:t>ses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élèves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23-24-25]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Wish-list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Ajouter</a:t>
            </a:r>
            <a:r>
              <a:rPr>
                <a:solidFill>
                  <a:schemeClr val="bg1"/>
                </a:solidFill>
              </a:rPr>
              <a:t>/</a:t>
            </a:r>
            <a:r>
              <a:rPr err="1">
                <a:solidFill>
                  <a:schemeClr val="bg1"/>
                </a:solidFill>
              </a:rPr>
              <a:t>retirer</a:t>
            </a:r>
            <a:r>
              <a:rPr>
                <a:solidFill>
                  <a:schemeClr val="bg1"/>
                </a:solidFill>
              </a:rPr>
              <a:t> des </a:t>
            </a:r>
            <a:r>
              <a:rPr err="1">
                <a:solidFill>
                  <a:schemeClr val="bg1"/>
                </a:solidFill>
              </a:rPr>
              <a:t>offres</a:t>
            </a:r>
            <a:r>
              <a:rPr>
                <a:solidFill>
                  <a:schemeClr val="bg1"/>
                </a:solidFill>
              </a:rPr>
              <a:t>.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Page </a:t>
            </a:r>
            <a:r>
              <a:rPr err="1">
                <a:solidFill>
                  <a:schemeClr val="bg1"/>
                </a:solidFill>
              </a:rPr>
              <a:t>dédiée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étudiant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402336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SFx</a:t>
            </a:r>
            <a:r>
              <a:rPr sz="2000"/>
              <a:t> 28]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Mentions </a:t>
            </a:r>
            <a:r>
              <a:rPr sz="1600" err="1"/>
              <a:t>Légales</a:t>
            </a:r>
            <a:endParaRPr sz="16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Page </a:t>
            </a:r>
            <a:r>
              <a:rPr err="1">
                <a:solidFill>
                  <a:schemeClr val="bg1"/>
                </a:solidFill>
              </a:rPr>
              <a:t>conforme</a:t>
            </a:r>
            <a:r>
              <a:rPr>
                <a:solidFill>
                  <a:schemeClr val="bg1"/>
                </a:solidFill>
              </a:rPr>
              <a:t> RGPD,</a:t>
            </a:r>
            <a:br>
              <a:rPr>
                <a:solidFill>
                  <a:schemeClr val="bg1"/>
                </a:solidFill>
              </a:rPr>
            </a:br>
            <a:r>
              <a:rPr err="1">
                <a:solidFill>
                  <a:schemeClr val="bg1"/>
                </a:solidFill>
              </a:rPr>
              <a:t>éditeur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hébergeur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8" y="4023360"/>
            <a:ext cx="3474720" cy="201168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59E0B"/>
                </a:solidFill>
                <a:latin typeface="JetBrains Mono"/>
              </a:defRPr>
            </a:pPr>
            <a:r>
              <a:rPr sz="2000"/>
              <a:t>[Bonus]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1600"/>
              <a:t>Extras </a:t>
            </a:r>
            <a:r>
              <a:rPr sz="1600" err="1"/>
              <a:t>ajoutés</a:t>
            </a:r>
            <a:endParaRPr sz="16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Messagerie</a:t>
            </a:r>
            <a:r>
              <a:rPr>
                <a:solidFill>
                  <a:schemeClr val="bg1"/>
                </a:solidFill>
              </a:rPr>
              <a:t>, notifications,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chatbot, Google SSO, </a:t>
            </a:r>
            <a:r>
              <a:rPr err="1">
                <a:solidFill>
                  <a:schemeClr val="bg1"/>
                </a:solidFill>
              </a:rPr>
              <a:t>groupes</a:t>
            </a:r>
            <a:r>
              <a:rPr>
                <a:solidFill>
                  <a:schemeClr val="bg1"/>
                </a:solidFill>
              </a:rPr>
              <a:t> D&amp;D.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9741BCB-E14B-574A-5038-E9B3BC6E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904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9739" y="182880"/>
            <a:ext cx="8500970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sz="3600"/>
              <a:t>PARTIE 8 — </a:t>
            </a:r>
            <a:r>
              <a:rPr sz="3600" err="1"/>
              <a:t>STx</a:t>
            </a:r>
            <a:r>
              <a:rPr sz="3600"/>
              <a:t> 11 / </a:t>
            </a:r>
            <a:r>
              <a:rPr sz="3600" err="1"/>
              <a:t>STx</a:t>
            </a:r>
            <a:r>
              <a:rPr sz="3600"/>
              <a:t> 14 / </a:t>
            </a:r>
            <a:r>
              <a:rPr sz="3600" err="1"/>
              <a:t>STx</a:t>
            </a:r>
            <a:r>
              <a:rPr sz="3600"/>
              <a:t>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/>
              <a:t>Sécurité &amp; </a:t>
            </a:r>
            <a:r>
              <a:rPr lang="fr-FR" u="sng" err="1"/>
              <a:t>Qualité</a:t>
            </a:r>
            <a:endParaRPr lang="fr-FR" u="sng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11]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 err="1"/>
              <a:t>Hashage</a:t>
            </a:r>
            <a:r>
              <a:rPr lang="fr-FR" sz="1600"/>
              <a:t> </a:t>
            </a:r>
            <a:r>
              <a:rPr lang="fr-FR" sz="1600" err="1"/>
              <a:t>bcrypt</a:t>
            </a:r>
            <a:endParaRPr lang="fr-FR" sz="1600"/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 err="1">
                <a:solidFill>
                  <a:schemeClr val="bg1"/>
                </a:solidFill>
              </a:rPr>
              <a:t>password_hash</a:t>
            </a:r>
            <a:r>
              <a:rPr lang="fr-FR">
                <a:solidFill>
                  <a:schemeClr val="bg1"/>
                </a:solidFill>
              </a:rPr>
              <a:t>() avec </a:t>
            </a:r>
            <a:r>
              <a:rPr lang="fr-FR" err="1">
                <a:solidFill>
                  <a:schemeClr val="bg1"/>
                </a:solidFill>
              </a:rPr>
              <a:t>bcrypt</a:t>
            </a:r>
            <a:r>
              <a:rPr lang="fr-FR">
                <a:solidFill>
                  <a:schemeClr val="bg1"/>
                </a:solidFill>
              </a:rPr>
              <a:t>.</a:t>
            </a:r>
            <a:br>
              <a:rPr lang="fr-FR">
                <a:solidFill>
                  <a:schemeClr val="bg1"/>
                </a:solidFill>
              </a:rPr>
            </a:br>
            <a:r>
              <a:rPr lang="fr-FR" err="1">
                <a:solidFill>
                  <a:schemeClr val="bg1"/>
                </a:solidFill>
              </a:rPr>
              <a:t>Aucune</a:t>
            </a:r>
            <a:r>
              <a:rPr lang="fr-FR">
                <a:solidFill>
                  <a:schemeClr val="bg1"/>
                </a:solidFill>
              </a:rPr>
              <a:t> info sensible </a:t>
            </a:r>
            <a:r>
              <a:rPr lang="fr-FR" err="1">
                <a:solidFill>
                  <a:schemeClr val="bg1"/>
                </a:solidFill>
              </a:rPr>
              <a:t>en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clair</a:t>
            </a:r>
            <a:r>
              <a:rPr lang="fr-FR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6459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11]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/>
              <a:t>Protection CSRF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Token unique par session,</a:t>
            </a:r>
            <a:br>
              <a:rPr lang="fr-FR">
                <a:solidFill>
                  <a:schemeClr val="bg1"/>
                </a:solidFill>
              </a:rPr>
            </a:br>
            <a:r>
              <a:rPr lang="fr-FR" err="1">
                <a:solidFill>
                  <a:schemeClr val="bg1"/>
                </a:solidFill>
              </a:rPr>
              <a:t>vérifié</a:t>
            </a:r>
            <a:r>
              <a:rPr lang="fr-FR">
                <a:solidFill>
                  <a:schemeClr val="bg1"/>
                </a:solidFill>
              </a:rPr>
              <a:t> à </a:t>
            </a:r>
            <a:r>
              <a:rPr lang="fr-FR" err="1">
                <a:solidFill>
                  <a:schemeClr val="bg1"/>
                </a:solidFill>
              </a:rPr>
              <a:t>chaque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formulaire</a:t>
            </a:r>
            <a:r>
              <a:rPr lang="fr-FR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6459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11]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/>
              <a:t>Injections SQL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100% </a:t>
            </a:r>
            <a:r>
              <a:rPr err="1">
                <a:solidFill>
                  <a:schemeClr val="bg1"/>
                </a:solidFill>
              </a:rPr>
              <a:t>requêtes</a:t>
            </a:r>
            <a:r>
              <a:rPr>
                <a:solidFill>
                  <a:schemeClr val="bg1"/>
                </a:solidFill>
              </a:rPr>
              <a:t> prepare()/execute()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PDO. </a:t>
            </a:r>
            <a:r>
              <a:rPr err="1">
                <a:solidFill>
                  <a:schemeClr val="bg1"/>
                </a:solidFill>
              </a:rPr>
              <a:t>Zéro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concaténation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11]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/>
              <a:t>Protection XSS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 err="1">
                <a:solidFill>
                  <a:schemeClr val="bg1"/>
                </a:solidFill>
              </a:rPr>
              <a:t>htmlspecialchars</a:t>
            </a:r>
            <a:r>
              <a:rPr lang="fr-FR">
                <a:solidFill>
                  <a:schemeClr val="bg1"/>
                </a:solidFill>
              </a:rPr>
              <a:t>() sur sorties.</a:t>
            </a:r>
            <a:br>
              <a:rPr lang="fr-FR">
                <a:solidFill>
                  <a:schemeClr val="bg1"/>
                </a:solidFill>
              </a:rPr>
            </a:br>
            <a:r>
              <a:rPr lang="fr-FR" err="1">
                <a:solidFill>
                  <a:schemeClr val="bg1"/>
                </a:solidFill>
              </a:rPr>
              <a:t>filter_input</a:t>
            </a:r>
            <a:r>
              <a:rPr lang="fr-FR">
                <a:solidFill>
                  <a:schemeClr val="bg1"/>
                </a:solidFill>
              </a:rPr>
              <a:t>() sur entrées.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34747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11]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/>
              <a:t>Cookies </a:t>
            </a:r>
            <a:r>
              <a:rPr lang="fr-FR" sz="1600" err="1"/>
              <a:t>sécurisés</a:t>
            </a:r>
            <a:endParaRPr lang="fr-FR" sz="1600"/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Flags </a:t>
            </a:r>
            <a:r>
              <a:rPr err="1">
                <a:solidFill>
                  <a:schemeClr val="bg1"/>
                </a:solidFill>
              </a:rPr>
              <a:t>HttpOnly</a:t>
            </a:r>
            <a:r>
              <a:rPr>
                <a:solidFill>
                  <a:schemeClr val="bg1"/>
                </a:solidFill>
              </a:rPr>
              <a:t>, Secure.</a:t>
            </a:r>
            <a:br>
              <a:rPr>
                <a:solidFill>
                  <a:schemeClr val="bg1"/>
                </a:solidFill>
              </a:rPr>
            </a:br>
            <a:r>
              <a:rPr err="1">
                <a:solidFill>
                  <a:schemeClr val="bg1"/>
                </a:solidFill>
              </a:rPr>
              <a:t>Protocole</a:t>
            </a:r>
            <a:r>
              <a:rPr>
                <a:solidFill>
                  <a:schemeClr val="bg1"/>
                </a:solidFill>
              </a:rPr>
              <a:t> HTTPS.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3474720"/>
            <a:ext cx="3474720" cy="146304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6366F1"/>
                </a:solidFill>
                <a:latin typeface="JetBrains Mono"/>
              </a:defRPr>
            </a:pPr>
            <a:r>
              <a:rPr sz="2000"/>
              <a:t>[</a:t>
            </a:r>
            <a:r>
              <a:rPr sz="2000" err="1"/>
              <a:t>STx</a:t>
            </a:r>
            <a:r>
              <a:rPr sz="2000"/>
              <a:t> 14]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lang="fr-FR" sz="1600"/>
              <a:t>Tests </a:t>
            </a:r>
            <a:r>
              <a:rPr lang="fr-FR" sz="1600" err="1"/>
              <a:t>PHPUnit</a:t>
            </a:r>
            <a:endParaRPr lang="fr-FR" sz="1600"/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>
                <a:solidFill>
                  <a:schemeClr val="bg1"/>
                </a:solidFill>
              </a:rPr>
              <a:t>Tests </a:t>
            </a:r>
            <a:r>
              <a:rPr err="1">
                <a:solidFill>
                  <a:schemeClr val="bg1"/>
                </a:solidFill>
              </a:rPr>
              <a:t>unitaires</a:t>
            </a:r>
            <a:r>
              <a:rPr>
                <a:solidFill>
                  <a:schemeClr val="bg1"/>
                </a:solidFill>
              </a:rPr>
              <a:t> pour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au </a:t>
            </a:r>
            <a:r>
              <a:rPr err="1">
                <a:solidFill>
                  <a:schemeClr val="bg1"/>
                </a:solidFill>
              </a:rPr>
              <a:t>moins</a:t>
            </a:r>
            <a:r>
              <a:rPr>
                <a:solidFill>
                  <a:schemeClr val="bg1"/>
                </a:solidFill>
              </a:rPr>
              <a:t> un </a:t>
            </a:r>
            <a:r>
              <a:rPr err="1">
                <a:solidFill>
                  <a:schemeClr val="bg1"/>
                </a:solidFill>
              </a:rPr>
              <a:t>contrôleur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Segoe UI"/>
              </a:defRPr>
            </a:pPr>
            <a:r>
              <a:t>SEO [STx 12]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Balises title, meta description,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Hn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, alt images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URLs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lisibles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et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optimisées</a:t>
            </a:r>
            <a:endParaRPr lang="fr-FR" sz="10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Temps de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chargement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&lt; 3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secondes</a:t>
            </a:r>
            <a:endParaRPr lang="fr-FR" sz="10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sitemap.xml et robots.txt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Segoe UI"/>
              </a:defRPr>
            </a:pPr>
            <a:r>
              <a:t>Validation [STx 2 •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394960"/>
            <a:ext cx="50292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HTML5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sémantique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,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validé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W3C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Formulaires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validés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front (HTML/JS) + back (PHP)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0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000">
                <a:solidFill>
                  <a:schemeClr val="bg1"/>
                </a:solidFill>
                <a:latin typeface="Segoe UI"/>
              </a:rPr>
              <a:t>  Conventions PSR-12 </a:t>
            </a:r>
            <a:r>
              <a:rPr lang="fr-FR" sz="1000" err="1">
                <a:solidFill>
                  <a:schemeClr val="bg1"/>
                </a:solidFill>
                <a:latin typeface="Segoe UI"/>
              </a:rPr>
              <a:t>respectées</a:t>
            </a:r>
            <a:endParaRPr lang="fr-FR" sz="100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772C281A-0856-5311-CF5B-E59E8DA6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076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9907" y="274320"/>
            <a:ext cx="4745048" cy="45720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DESIGN — </a:t>
            </a:r>
            <a:r>
              <a:rPr lang="fr-FR" sz="3600" err="1"/>
              <a:t>STx</a:t>
            </a:r>
            <a:r>
              <a:rPr lang="fr-FR" sz="3600"/>
              <a:t>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/>
              <a:t>Responsive Design &amp;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Segoe UI"/>
              </a:defRPr>
            </a:pPr>
            <a:r>
              <a:rPr lang="fr-FR" sz="2800"/>
              <a:t>Responsive [</a:t>
            </a:r>
            <a:r>
              <a:rPr lang="fr-FR" sz="2800" err="1"/>
              <a:t>STx</a:t>
            </a:r>
            <a:r>
              <a:rPr lang="fr-FR" sz="2800"/>
              <a:t> 10]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Mobile-first avec breakpoints (576/768/992px)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Menu burger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animé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sur petits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écrans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Grilles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adaptatives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(CSS Grid + Flexbox)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Tableaux et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formulaires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redimensionnables</a:t>
            </a:r>
            <a:endParaRPr lang="fr-FR" sz="110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35175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  <a:latin typeface="Segoe UI"/>
              </a:defRPr>
            </a:pPr>
            <a:r>
              <a:rPr lang="fr-FR" sz="2400"/>
              <a:t>Double </a:t>
            </a:r>
            <a:r>
              <a:rPr lang="fr-FR" sz="2400" err="1"/>
              <a:t>thème</a:t>
            </a:r>
            <a:r>
              <a:rPr lang="fr-FR" sz="2400"/>
              <a:t> </a:t>
            </a:r>
            <a:r>
              <a:rPr lang="fr-FR" sz="2400" err="1"/>
              <a:t>sombre</a:t>
            </a:r>
            <a:r>
              <a:rPr lang="fr-FR" sz="2400"/>
              <a:t> / </a:t>
            </a:r>
            <a:r>
              <a:rPr lang="fr-FR" sz="2400" err="1"/>
              <a:t>clair</a:t>
            </a:r>
            <a:endParaRPr lang="fr-FR" sz="2400"/>
          </a:p>
        </p:txBody>
      </p:sp>
      <p:sp>
        <p:nvSpPr>
          <p:cNvPr id="7" name="TextBox 6"/>
          <p:cNvSpPr txBox="1"/>
          <p:nvPr/>
        </p:nvSpPr>
        <p:spPr>
          <a:xfrm>
            <a:off x="731520" y="4808955"/>
            <a:ext cx="502920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Variables CSS HSL pour design system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cohérent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Basculement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instantané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via [data-theme]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22C55E"/>
                </a:solidFill>
                <a:latin typeface="Segoe UI"/>
              </a:rPr>
              <a:t>✓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Préférence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sauvegardée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en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localStorage</a:t>
            </a:r>
            <a:endParaRPr lang="fr-FR" sz="1100">
              <a:solidFill>
                <a:schemeClr val="bg1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Segoe UI"/>
              </a:defRPr>
            </a:pPr>
            <a:r>
              <a:t>Composants UI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0292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100">
                <a:solidFill>
                  <a:srgbClr val="6366F1"/>
                </a:solidFill>
                <a:latin typeface="Segoe UI"/>
              </a:rPr>
              <a:t>▸  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Navbar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flottante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avec backdrop-filter blur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Animations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d'entrée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et transitions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fluides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Cartes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utilisateurs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et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offres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modernes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Barre de recherche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centrée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stylisée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Dropdown notifications temps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réel</a:t>
            </a:r>
            <a:endParaRPr lang="fr-FR" sz="11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Board Kanban drag &amp; drop (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groupes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100">
                <a:solidFill>
                  <a:srgbClr val="4446A5"/>
                </a:solidFill>
                <a:latin typeface="Segoe UI"/>
              </a:rPr>
              <a:t>▸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 Carrousel de 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statistiques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[</a:t>
            </a:r>
            <a:r>
              <a:rPr lang="fr-FR" sz="1100" err="1">
                <a:solidFill>
                  <a:schemeClr val="bg1"/>
                </a:solidFill>
                <a:latin typeface="Segoe UI"/>
              </a:rPr>
              <a:t>SFx</a:t>
            </a:r>
            <a:r>
              <a:rPr lang="fr-FR" sz="1100">
                <a:solidFill>
                  <a:schemeClr val="bg1"/>
                </a:solidFill>
                <a:latin typeface="Segoe UI"/>
              </a:rPr>
              <a:t> 11]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Segoe UI"/>
              </a:defRPr>
            </a:pPr>
            <a:r>
              <a:t>Typographie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Inter (corps)  •  Space Grotesk (</a:t>
            </a:r>
            <a:r>
              <a:rPr lang="fr-FR" err="1">
                <a:solidFill>
                  <a:schemeClr val="bg1"/>
                </a:solidFill>
              </a:rPr>
              <a:t>titres</a:t>
            </a:r>
            <a:r>
              <a:rPr lang="fr-FR">
                <a:solidFill>
                  <a:schemeClr val="bg1"/>
                </a:solidFill>
              </a:rPr>
              <a:t>)  •  JetBrains Mono (code)</a:t>
            </a:r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1CB8FB6-74CB-9104-D751-3A8F19E6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9048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4040" y="422596"/>
            <a:ext cx="8503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sz="4800" u="sng"/>
              <a:t>Le </a:t>
            </a:r>
            <a:r>
              <a:rPr lang="fr-FR" sz="4800" u="sng" err="1"/>
              <a:t>projet</a:t>
            </a:r>
            <a:r>
              <a:rPr lang="fr-FR" sz="4800" u="sng"/>
              <a:t> </a:t>
            </a:r>
            <a:r>
              <a:rPr lang="fr-FR" sz="4800" u="sng" err="1"/>
              <a:t>en</a:t>
            </a:r>
            <a:r>
              <a:rPr lang="fr-FR" sz="4800" u="sng"/>
              <a:t> chiffres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9805E7C-9230-557C-5E5B-FD43A6CC8A43}"/>
              </a:ext>
            </a:extLst>
          </p:cNvPr>
          <p:cNvGrpSpPr/>
          <p:nvPr/>
        </p:nvGrpSpPr>
        <p:grpSpPr>
          <a:xfrm>
            <a:off x="551125" y="1803235"/>
            <a:ext cx="11089750" cy="4115783"/>
            <a:chOff x="731520" y="1645920"/>
            <a:chExt cx="8869680" cy="3291840"/>
          </a:xfrm>
        </p:grpSpPr>
        <p:sp>
          <p:nvSpPr>
            <p:cNvPr id="3" name="Rounded Rectangle 2"/>
            <p:cNvSpPr/>
            <p:nvPr/>
          </p:nvSpPr>
          <p:spPr>
            <a:xfrm>
              <a:off x="731520" y="16459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6366F1"/>
                  </a:solidFill>
                  <a:latin typeface="Segoe UI"/>
                </a:defRPr>
              </a:pPr>
              <a:r>
                <a:t>14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Contrôleurs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017520" y="16459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6366F1"/>
                  </a:solidFill>
                  <a:latin typeface="Segoe UI"/>
                </a:defRPr>
              </a:pPr>
              <a:r>
                <a:t>11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Tables SQL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03520" y="16459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6366F1"/>
                  </a:solidFill>
                  <a:latin typeface="Segoe UI"/>
                </a:defRPr>
              </a:pPr>
              <a:r>
                <a:t>50+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Routes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589520" y="16459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6366F1"/>
                  </a:solidFill>
                  <a:latin typeface="Segoe UI"/>
                </a:defRPr>
              </a:pPr>
              <a:r>
                <a:t>4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Rôles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31520" y="34747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A855F7"/>
                  </a:solidFill>
                  <a:latin typeface="Segoe UI"/>
                </a:defRPr>
              </a:pPr>
              <a:r>
                <a:t>28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SFx</a:t>
              </a:r>
              <a:br/>
              <a:r>
                <a:t>implémentées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7520" y="34747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A855F7"/>
                  </a:solidFill>
                  <a:latin typeface="Segoe UI"/>
                </a:defRPr>
              </a:pPr>
              <a:r>
                <a:t>14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STx</a:t>
              </a:r>
              <a:br/>
              <a:r>
                <a:t>respectées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303520" y="34747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A855F7"/>
                  </a:solidFill>
                  <a:latin typeface="Segoe UI"/>
                </a:defRPr>
              </a:pPr>
              <a:r>
                <a:t>2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Thèmes</a:t>
              </a:r>
              <a:br/>
              <a:r>
                <a:t>(sombre/clair)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589520" y="3474720"/>
              <a:ext cx="2011680" cy="1463040"/>
            </a:xfrm>
            <a:prstGeom prst="roundRect">
              <a:avLst/>
            </a:prstGeom>
            <a:solidFill>
              <a:srgbClr val="141432"/>
            </a:solidFill>
            <a:ln w="12700">
              <a:solidFill>
                <a:srgbClr val="2A2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3600" b="1">
                  <a:solidFill>
                    <a:srgbClr val="A855F7"/>
                  </a:solidFill>
                  <a:latin typeface="Segoe UI"/>
                </a:defRPr>
              </a:pPr>
              <a:r>
                <a:t>6</a:t>
              </a:r>
            </a:p>
            <a:p>
              <a:pPr algn="ctr">
                <a:spcBef>
                  <a:spcPts val="600"/>
                </a:spcBef>
                <a:defRPr sz="1100">
                  <a:solidFill>
                    <a:srgbClr val="94A3B8"/>
                  </a:solidFill>
                  <a:latin typeface="Segoe UI"/>
                </a:defRPr>
              </a:pPr>
              <a:r>
                <a:t>Phases</a:t>
              </a:r>
              <a:br/>
              <a:r>
                <a:t>projet</a:t>
              </a:r>
            </a:p>
          </p:txBody>
        </p:sp>
      </p:grp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C2CB7435-C12E-A32F-99CF-AB1E4A80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3648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50605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  <a:latin typeface="Segoe UI"/>
              </a:defRPr>
            </a:pPr>
            <a:r>
              <a:rPr lang="fr-FR" err="1"/>
              <a:t>Démonstration</a:t>
            </a:r>
            <a:br/>
            <a:r>
              <a:t>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4040" y="2395597"/>
            <a:ext cx="8503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rPr lang="fr-FR" sz="3200" b="1" u="sng" err="1">
                <a:solidFill>
                  <a:schemeClr val="bg1"/>
                </a:solidFill>
              </a:rPr>
              <a:t>Présentation</a:t>
            </a:r>
            <a:r>
              <a:rPr lang="fr-FR" sz="3200" b="1" u="sng">
                <a:solidFill>
                  <a:schemeClr val="bg1"/>
                </a:solidFill>
              </a:rPr>
              <a:t> </a:t>
            </a:r>
            <a:r>
              <a:rPr lang="fr-FR" sz="3200" b="1" u="sng" err="1">
                <a:solidFill>
                  <a:schemeClr val="bg1"/>
                </a:solidFill>
              </a:rPr>
              <a:t>en</a:t>
            </a:r>
            <a:r>
              <a:rPr lang="fr-FR" sz="3200" b="1" u="sng">
                <a:solidFill>
                  <a:schemeClr val="bg1"/>
                </a:solidFill>
              </a:rPr>
              <a:t> direct de </a:t>
            </a:r>
            <a:r>
              <a:rPr lang="fr-FR" sz="3200" b="1" u="sng" err="1">
                <a:solidFill>
                  <a:schemeClr val="bg1"/>
                </a:solidFill>
              </a:rPr>
              <a:t>l'application</a:t>
            </a:r>
            <a:endParaRPr lang="fr-FR" sz="3200" b="1" u="sng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2560320" cy="13716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lang="fr-FR" sz="2000" err="1"/>
              <a:t>Authentification</a:t>
            </a:r>
            <a:endParaRPr lang="fr-FR" sz="20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Login, inscription,</a:t>
            </a:r>
            <a:br>
              <a:rPr lang="fr-FR">
                <a:solidFill>
                  <a:schemeClr val="bg1"/>
                </a:solidFill>
              </a:rPr>
            </a:br>
            <a:r>
              <a:rPr lang="fr-FR">
                <a:solidFill>
                  <a:schemeClr val="bg1"/>
                </a:solidFill>
              </a:rPr>
              <a:t>Google SSO,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3840480"/>
            <a:ext cx="2560320" cy="13716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lang="fr-FR" sz="2000" err="1"/>
              <a:t>Offres</a:t>
            </a:r>
            <a:r>
              <a:rPr lang="fr-FR" sz="2000"/>
              <a:t> &amp; Entreprises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Recherche, </a:t>
            </a:r>
            <a:r>
              <a:rPr lang="fr-FR" err="1">
                <a:solidFill>
                  <a:schemeClr val="bg1"/>
                </a:solidFill>
              </a:rPr>
              <a:t>filtres</a:t>
            </a:r>
            <a:r>
              <a:rPr lang="fr-FR">
                <a:solidFill>
                  <a:schemeClr val="bg1"/>
                </a:solidFill>
              </a:rPr>
              <a:t>,</a:t>
            </a:r>
            <a:br>
              <a:rPr lang="fr-FR">
                <a:solidFill>
                  <a:schemeClr val="bg1"/>
                </a:solidFill>
              </a:rPr>
            </a:br>
            <a:r>
              <a:rPr lang="fr-FR">
                <a:solidFill>
                  <a:schemeClr val="bg1"/>
                </a:solidFill>
              </a:rPr>
              <a:t>pagination, </a:t>
            </a:r>
            <a:r>
              <a:rPr lang="fr-FR" err="1">
                <a:solidFill>
                  <a:schemeClr val="bg1"/>
                </a:solidFill>
              </a:rPr>
              <a:t>évaluations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3840480"/>
            <a:ext cx="2560320" cy="13716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lang="fr-FR" sz="2000"/>
              <a:t>Candidatures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 err="1">
                <a:solidFill>
                  <a:schemeClr val="bg1"/>
                </a:solidFill>
              </a:rPr>
              <a:t>Postuler</a:t>
            </a:r>
            <a:r>
              <a:rPr lang="fr-FR">
                <a:solidFill>
                  <a:schemeClr val="bg1"/>
                </a:solidFill>
              </a:rPr>
              <a:t>, </a:t>
            </a:r>
            <a:r>
              <a:rPr lang="fr-FR" err="1">
                <a:solidFill>
                  <a:schemeClr val="bg1"/>
                </a:solidFill>
              </a:rPr>
              <a:t>suivi</a:t>
            </a:r>
            <a:r>
              <a:rPr lang="fr-FR">
                <a:solidFill>
                  <a:schemeClr val="bg1"/>
                </a:solidFill>
              </a:rPr>
              <a:t>,</a:t>
            </a:r>
            <a:br>
              <a:rPr lang="fr-FR">
                <a:solidFill>
                  <a:schemeClr val="bg1"/>
                </a:solidFill>
              </a:rPr>
            </a:br>
            <a:r>
              <a:rPr lang="fr-FR">
                <a:solidFill>
                  <a:schemeClr val="bg1"/>
                </a:solidFill>
              </a:rPr>
              <a:t>wish-list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3840480"/>
            <a:ext cx="2560320" cy="137160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6366F1"/>
                </a:solidFill>
                <a:latin typeface="Segoe UI"/>
              </a:defRPr>
            </a:pPr>
            <a:r>
              <a:rPr lang="fr-FR" sz="2000"/>
              <a:t>Admin &amp; </a:t>
            </a:r>
            <a:r>
              <a:rPr lang="fr-FR" sz="2000" err="1"/>
              <a:t>Groupes</a:t>
            </a:r>
            <a:endParaRPr lang="fr-FR" sz="2000"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CRUD, drag &amp; drop,</a:t>
            </a:r>
            <a:br>
              <a:rPr lang="fr-FR">
                <a:solidFill>
                  <a:schemeClr val="bg1"/>
                </a:solidFill>
              </a:rPr>
            </a:br>
            <a:r>
              <a:rPr lang="fr-FR" err="1">
                <a:solidFill>
                  <a:schemeClr val="bg1"/>
                </a:solidFill>
              </a:rPr>
              <a:t>rôles</a:t>
            </a:r>
            <a:r>
              <a:rPr lang="fr-FR">
                <a:solidFill>
                  <a:schemeClr val="bg1"/>
                </a:solidFill>
              </a:rPr>
              <a:t>, permissions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04A0973-5B97-04FB-ECCE-B302860F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55171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9738" y="203036"/>
            <a:ext cx="5944583" cy="619924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RETOUR D'EXPÉRIENCE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 err="1"/>
              <a:t>Difficultés</a:t>
            </a:r>
            <a:r>
              <a:rPr lang="fr-FR" u="sng"/>
              <a:t>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MVC sans framework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 err="1">
                <a:solidFill>
                  <a:schemeClr val="bg1"/>
                </a:solidFill>
              </a:rPr>
              <a:t>Construire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routeur</a:t>
            </a:r>
            <a:r>
              <a:rPr lang="fr-FR">
                <a:solidFill>
                  <a:schemeClr val="bg1"/>
                </a:solidFill>
              </a:rPr>
              <a:t>, autoloader et </a:t>
            </a:r>
            <a:r>
              <a:rPr lang="fr-FR" err="1">
                <a:solidFill>
                  <a:schemeClr val="bg1"/>
                </a:solidFill>
              </a:rPr>
              <a:t>moteur</a:t>
            </a:r>
            <a:r>
              <a:rPr lang="fr-FR">
                <a:solidFill>
                  <a:schemeClr val="bg1"/>
                </a:solidFill>
              </a:rPr>
              <a:t> de template from scratch. Valeur </a:t>
            </a:r>
            <a:r>
              <a:rPr lang="fr-FR" err="1">
                <a:solidFill>
                  <a:schemeClr val="bg1"/>
                </a:solidFill>
              </a:rPr>
              <a:t>pédagogique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mais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chronophage</a:t>
            </a:r>
            <a:r>
              <a:rPr lang="fr-FR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Travail </a:t>
            </a:r>
            <a:r>
              <a:rPr lang="fr-FR" err="1"/>
              <a:t>collaboratif</a:t>
            </a:r>
            <a:r>
              <a:t> Git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Gestion des </a:t>
            </a:r>
            <a:r>
              <a:rPr lang="fr-FR" err="1">
                <a:solidFill>
                  <a:schemeClr val="bg1"/>
                </a:solidFill>
              </a:rPr>
              <a:t>conflits</a:t>
            </a:r>
            <a:r>
              <a:rPr lang="fr-FR">
                <a:solidFill>
                  <a:schemeClr val="bg1"/>
                </a:solidFill>
              </a:rPr>
              <a:t> de merge, branches </a:t>
            </a:r>
            <a:r>
              <a:rPr lang="fr-FR" err="1">
                <a:solidFill>
                  <a:schemeClr val="bg1"/>
                </a:solidFill>
              </a:rPr>
              <a:t>parallèles</a:t>
            </a:r>
            <a:r>
              <a:rPr lang="fr-FR">
                <a:solidFill>
                  <a:schemeClr val="bg1"/>
                </a:solidFill>
              </a:rPr>
              <a:t>, </a:t>
            </a:r>
            <a:r>
              <a:rPr lang="fr-FR" err="1">
                <a:solidFill>
                  <a:schemeClr val="bg1"/>
                </a:solidFill>
              </a:rPr>
              <a:t>synchronisation</a:t>
            </a:r>
            <a:r>
              <a:rPr lang="fr-FR">
                <a:solidFill>
                  <a:schemeClr val="bg1"/>
                </a:solidFill>
              </a:rPr>
              <a:t> de la BDD commune.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Système de permissions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Matrice de </a:t>
            </a:r>
            <a:r>
              <a:rPr lang="fr-FR" err="1">
                <a:solidFill>
                  <a:schemeClr val="bg1"/>
                </a:solidFill>
              </a:rPr>
              <a:t>rôles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complexe</a:t>
            </a:r>
            <a:r>
              <a:rPr lang="fr-FR">
                <a:solidFill>
                  <a:schemeClr val="bg1"/>
                </a:solidFill>
              </a:rPr>
              <a:t> avec restrictions par </a:t>
            </a:r>
            <a:r>
              <a:rPr lang="fr-FR" err="1">
                <a:solidFill>
                  <a:schemeClr val="bg1"/>
                </a:solidFill>
              </a:rPr>
              <a:t>profil</a:t>
            </a:r>
            <a:r>
              <a:rPr lang="fr-FR">
                <a:solidFill>
                  <a:schemeClr val="bg1"/>
                </a:solidFill>
              </a:rPr>
              <a:t> et </a:t>
            </a:r>
            <a:r>
              <a:rPr lang="fr-FR" err="1">
                <a:solidFill>
                  <a:schemeClr val="bg1"/>
                </a:solidFill>
              </a:rPr>
              <a:t>sécurisation</a:t>
            </a:r>
            <a:r>
              <a:rPr lang="fr-FR">
                <a:solidFill>
                  <a:schemeClr val="bg1"/>
                </a:solidFill>
              </a:rPr>
              <a:t> de </a:t>
            </a:r>
            <a:r>
              <a:rPr lang="fr-FR" err="1">
                <a:solidFill>
                  <a:schemeClr val="bg1"/>
                </a:solidFill>
              </a:rPr>
              <a:t>chaque</a:t>
            </a:r>
            <a:r>
              <a:rPr lang="fr-FR">
                <a:solidFill>
                  <a:schemeClr val="bg1"/>
                </a:solidFill>
              </a:rPr>
              <a:t> route.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4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Double </a:t>
            </a:r>
            <a:r>
              <a:rPr lang="fr-FR" err="1"/>
              <a:t>thème</a:t>
            </a:r>
            <a:r>
              <a:t> CSS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 err="1">
                <a:solidFill>
                  <a:schemeClr val="bg1"/>
                </a:solidFill>
              </a:rPr>
              <a:t>Maintenir</a:t>
            </a:r>
            <a:r>
              <a:rPr lang="fr-FR">
                <a:solidFill>
                  <a:schemeClr val="bg1"/>
                </a:solidFill>
              </a:rPr>
              <a:t> la </a:t>
            </a:r>
            <a:r>
              <a:rPr lang="fr-FR" err="1">
                <a:solidFill>
                  <a:schemeClr val="bg1"/>
                </a:solidFill>
              </a:rPr>
              <a:t>cohérence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err="1">
                <a:solidFill>
                  <a:schemeClr val="bg1"/>
                </a:solidFill>
              </a:rPr>
              <a:t>visuelle</a:t>
            </a:r>
            <a:r>
              <a:rPr lang="fr-FR">
                <a:solidFill>
                  <a:schemeClr val="bg1"/>
                </a:solidFill>
              </a:rPr>
              <a:t> sur 3500+ </a:t>
            </a:r>
            <a:r>
              <a:rPr lang="fr-FR" err="1">
                <a:solidFill>
                  <a:schemeClr val="bg1"/>
                </a:solidFill>
              </a:rPr>
              <a:t>lignes</a:t>
            </a:r>
            <a:r>
              <a:rPr lang="fr-FR">
                <a:solidFill>
                  <a:schemeClr val="bg1"/>
                </a:solidFill>
              </a:rPr>
              <a:t> CSS pour les modes </a:t>
            </a:r>
            <a:r>
              <a:rPr lang="fr-FR" err="1">
                <a:solidFill>
                  <a:schemeClr val="bg1"/>
                </a:solidFill>
              </a:rPr>
              <a:t>sombre</a:t>
            </a:r>
            <a:r>
              <a:rPr lang="fr-FR">
                <a:solidFill>
                  <a:schemeClr val="bg1"/>
                </a:solidFill>
              </a:rPr>
              <a:t> et </a:t>
            </a:r>
            <a:r>
              <a:rPr lang="fr-FR" err="1">
                <a:solidFill>
                  <a:schemeClr val="bg1"/>
                </a:solidFill>
              </a:rPr>
              <a:t>clair</a:t>
            </a:r>
            <a:r>
              <a:rPr lang="fr-FR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Drag &amp; Drop </a:t>
            </a:r>
            <a:r>
              <a:rPr lang="fr-FR" err="1"/>
              <a:t>natif</a:t>
            </a:r>
            <a:endParaRPr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API HTML5 sans bibliothèque externe, </a:t>
            </a:r>
            <a:r>
              <a:rPr lang="fr-FR" err="1">
                <a:solidFill>
                  <a:schemeClr val="bg1"/>
                </a:solidFill>
              </a:rPr>
              <a:t>synchronisation</a:t>
            </a:r>
            <a:r>
              <a:rPr lang="fr-FR">
                <a:solidFill>
                  <a:schemeClr val="bg1"/>
                </a:solidFill>
              </a:rPr>
              <a:t> AJAX temps </a:t>
            </a:r>
            <a:r>
              <a:rPr lang="fr-FR" err="1">
                <a:solidFill>
                  <a:schemeClr val="bg1"/>
                </a:solidFill>
              </a:rPr>
              <a:t>réel</a:t>
            </a:r>
            <a:r>
              <a:rPr lang="fr-FR">
                <a:solidFill>
                  <a:schemeClr val="bg1"/>
                </a:solidFill>
              </a:rPr>
              <a:t> avec le </a:t>
            </a:r>
            <a:r>
              <a:rPr lang="fr-FR" err="1">
                <a:solidFill>
                  <a:schemeClr val="bg1"/>
                </a:solidFill>
              </a:rPr>
              <a:t>serveur</a:t>
            </a:r>
            <a:r>
              <a:rPr lang="fr-FR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937760"/>
            <a:ext cx="5303520" cy="1280160"/>
          </a:xfrm>
          <a:prstGeom prst="roundRect">
            <a:avLst/>
          </a:prstGeom>
          <a:solidFill>
            <a:srgbClr val="141432"/>
          </a:solidFill>
          <a:ln w="1270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⚡ Responsive </a:t>
            </a:r>
            <a:r>
              <a:rPr lang="fr-FR" err="1"/>
              <a:t>complet</a:t>
            </a:r>
            <a:endParaRPr/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Adaptation de </a:t>
            </a:r>
            <a:r>
              <a:rPr lang="fr-FR" err="1">
                <a:solidFill>
                  <a:schemeClr val="bg1"/>
                </a:solidFill>
              </a:rPr>
              <a:t>toutes</a:t>
            </a:r>
            <a:r>
              <a:rPr lang="fr-FR">
                <a:solidFill>
                  <a:schemeClr val="bg1"/>
                </a:solidFill>
              </a:rPr>
              <a:t> les pages aux </a:t>
            </a:r>
            <a:r>
              <a:rPr lang="fr-FR" err="1">
                <a:solidFill>
                  <a:schemeClr val="bg1"/>
                </a:solidFill>
              </a:rPr>
              <a:t>différents</a:t>
            </a:r>
            <a:r>
              <a:rPr lang="fr-FR">
                <a:solidFill>
                  <a:schemeClr val="bg1"/>
                </a:solidFill>
              </a:rPr>
              <a:t> formats </a:t>
            </a:r>
            <a:r>
              <a:rPr lang="fr-FR" err="1">
                <a:solidFill>
                  <a:schemeClr val="bg1"/>
                </a:solidFill>
              </a:rPr>
              <a:t>d'écran</a:t>
            </a:r>
            <a:r>
              <a:rPr lang="fr-FR">
                <a:solidFill>
                  <a:schemeClr val="bg1"/>
                </a:solidFill>
              </a:rPr>
              <a:t> (mobile, </a:t>
            </a:r>
            <a:r>
              <a:rPr lang="fr-FR" err="1">
                <a:solidFill>
                  <a:schemeClr val="bg1"/>
                </a:solidFill>
              </a:rPr>
              <a:t>tablette</a:t>
            </a:r>
            <a:r>
              <a:rPr lang="fr-FR">
                <a:solidFill>
                  <a:schemeClr val="bg1"/>
                </a:solidFill>
              </a:rPr>
              <a:t>, desktop).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189D0DD4-2E3B-DCCF-6233-DA05CEBF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7183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19" y="228600"/>
            <a:ext cx="2513125" cy="548640"/>
          </a:xfrm>
          <a:prstGeom prst="roundRect">
            <a:avLst/>
          </a:prstGeom>
          <a:solidFill>
            <a:srgbClr val="12122A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366F1"/>
                </a:solidFill>
                <a:latin typeface="Segoe UI"/>
              </a:defRPr>
            </a:pPr>
            <a:r>
              <a:rPr lang="fr-FR" sz="3600"/>
              <a:t>PARTIE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Segoe UI"/>
              </a:defRPr>
            </a:pPr>
            <a:r>
              <a:rPr lang="fr-FR" u="sng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28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SFx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implémentées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conformément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au cahier des charges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14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STx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respectées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(MVC, sécurité, responsive, SEO...)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Architecture MVC propre et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maintenable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, sans framework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Interface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moderne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, responsive, double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thème</a:t>
            </a:r>
            <a:endParaRPr lang="fr-FR" sz="14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Sécurité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robuste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(CSRF,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bcrypt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, PDO, XSS)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22C55E"/>
                </a:solidFill>
                <a:latin typeface="Segoe UI"/>
              </a:rPr>
              <a:t>✓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Travail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d'équipe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avec Git et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méthode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  <a:latin typeface="Segoe UI"/>
              </a:defRPr>
            </a:pPr>
            <a:r>
              <a:t>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PWA : application mobile installable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Notifications temps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réel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(WebSocket)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Export PDF des candidatures et CV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Matching IA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offres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/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profil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étudiant</a:t>
            </a:r>
            <a:endParaRPr lang="fr-FR" sz="14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Calendrier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pour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entretiens</a:t>
            </a:r>
            <a:endParaRPr lang="fr-FR" sz="1400">
              <a:solidFill>
                <a:schemeClr val="bg1"/>
              </a:solidFill>
              <a:latin typeface="Segoe UI"/>
            </a:endParaRP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lang="fr-FR" sz="1400">
                <a:solidFill>
                  <a:srgbClr val="6366F1"/>
                </a:solidFill>
                <a:latin typeface="Segoe UI"/>
              </a:rPr>
              <a:t>→  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API REST pour </a:t>
            </a:r>
            <a:r>
              <a:rPr lang="fr-FR" sz="1400" err="1">
                <a:solidFill>
                  <a:schemeClr val="bg1"/>
                </a:solidFill>
                <a:latin typeface="Segoe UI"/>
              </a:rPr>
              <a:t>intégrations</a:t>
            </a:r>
            <a:r>
              <a:rPr lang="fr-FR" sz="1400">
                <a:solidFill>
                  <a:schemeClr val="bg1"/>
                </a:solidFill>
                <a:latin typeface="Segoe UI"/>
              </a:rPr>
              <a:t> externes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0CA2257-1862-7019-BB62-E4F8EF8A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6177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F0E60-BDD9-D0D4-01F4-663AB374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BBEF3DFF-E4A4-0D17-F2CC-AD5777716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62" y="2523066"/>
            <a:ext cx="3518443" cy="181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310FE6A-3C22-A9FB-DB27-DF362212CD88}"/>
              </a:ext>
            </a:extLst>
          </p:cNvPr>
          <p:cNvSpPr txBox="1"/>
          <p:nvPr/>
        </p:nvSpPr>
        <p:spPr>
          <a:xfrm>
            <a:off x="7166131" y="229319"/>
            <a:ext cx="2059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Site WEB</a:t>
            </a:r>
          </a:p>
        </p:txBody>
      </p:sp>
      <p:pic>
        <p:nvPicPr>
          <p:cNvPr id="3076" name="Picture 4" descr="A QR Code">
            <a:extLst>
              <a:ext uri="{FF2B5EF4-FFF2-40B4-BE49-F238E27FC236}">
                <a16:creationId xmlns:a16="http://schemas.microsoft.com/office/drawing/2014/main" id="{C893FEB0-C3AA-CABB-3943-968CF34BF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144" y="1123231"/>
            <a:ext cx="5505450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EAA6E1-DBD8-EDCE-E898-141DF3676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66677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99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6938F-8220-8C33-46B7-DDC0392B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2C0408D6-9BF0-4EAE-D276-0424266FA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62" y="2523066"/>
            <a:ext cx="3518443" cy="181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022BEAB-0EDE-0A16-34B8-2830EBE67AF5}"/>
              </a:ext>
            </a:extLst>
          </p:cNvPr>
          <p:cNvSpPr txBox="1"/>
          <p:nvPr/>
        </p:nvSpPr>
        <p:spPr>
          <a:xfrm>
            <a:off x="6948828" y="432851"/>
            <a:ext cx="24940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Ressources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7A0FC5B-083D-20AC-52DB-ED122E36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66677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E60FE23-77A5-4CD1-B4C2-DF6E791F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050" y="1327094"/>
            <a:ext cx="4753638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45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4960" y="1371600"/>
            <a:ext cx="1371600" cy="13716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4960" y="15087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  <a:latin typeface="Segoe UI"/>
              </a:defRPr>
            </a:pPr>
            <a: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749039"/>
            <a:ext cx="850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rPr lang="fr-FR">
                <a:solidFill>
                  <a:schemeClr val="bg1"/>
                </a:solidFill>
              </a:rPr>
              <a:t>Place à </a:t>
            </a:r>
            <a:r>
              <a:rPr lang="fr-FR" err="1">
                <a:solidFill>
                  <a:schemeClr val="bg1"/>
                </a:solidFill>
              </a:rPr>
              <a:t>vos</a:t>
            </a:r>
            <a:r>
              <a:rPr lang="fr-FR">
                <a:solidFill>
                  <a:schemeClr val="bg1"/>
                </a:solidFill>
              </a:rPr>
              <a:t>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Segoe UI"/>
              </a:defRPr>
            </a:pPr>
            <a:r>
              <a:rPr dirty="0"/>
              <a:t>Web4All  —  CESI Stages  •  2025-2026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F618E310-61F7-DF5E-A32F-77D5332B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6342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2025</Words>
  <Application>Microsoft Office PowerPoint</Application>
  <PresentationFormat>Grand écran</PresentationFormat>
  <Paragraphs>383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Aptos</vt:lpstr>
      <vt:lpstr>Arial</vt:lpstr>
      <vt:lpstr>Arial Black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</dc:creator>
  <cp:keywords/>
  <dc:description>generated using python-pptx</dc:description>
  <cp:lastModifiedBy>HOSSEINI SALEH</cp:lastModifiedBy>
  <cp:revision>1</cp:revision>
  <dcterms:created xsi:type="dcterms:W3CDTF">2013-01-27T09:14:16Z</dcterms:created>
  <dcterms:modified xsi:type="dcterms:W3CDTF">2026-04-03T13:00:15Z</dcterms:modified>
  <cp:category/>
</cp:coreProperties>
</file>